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259" r:id="rId4"/>
    <p:sldId id="260" r:id="rId6"/>
    <p:sldId id="261" r:id="rId7"/>
    <p:sldId id="262" r:id="rId8"/>
    <p:sldId id="263" r:id="rId9"/>
    <p:sldId id="264" r:id="rId10"/>
    <p:sldId id="266" r:id="rId11"/>
    <p:sldId id="267" r:id="rId12"/>
    <p:sldId id="272" r:id="rId13"/>
    <p:sldId id="273" r:id="rId14"/>
    <p:sldId id="274" r:id="rId15"/>
    <p:sldId id="275" r:id="rId16"/>
    <p:sldId id="276" r:id="rId17"/>
    <p:sldId id="268" r:id="rId18"/>
    <p:sldId id="269" r:id="rId19"/>
    <p:sldId id="270" r:id="rId20"/>
  </p:sldIdLst>
  <p:sldSz cx="9144000" cy="6858000" type="screen4x3"/>
  <p:notesSz cx="6858000" cy="9144000"/>
  <p:defaultTextStyle>
    <a:defPPr>
      <a:defRPr lang="en-US"/>
    </a:defPPr>
    <a:lvl1pPr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r" rtl="0" fontAlgn="base">
      <a:spcBef>
        <a:spcPct val="0"/>
      </a:spcBef>
      <a:spcAft>
        <a:spcPct val="0"/>
      </a:spcAft>
      <a:buFont typeface="Arial" panose="020B0604020202020204" pitchFamily="34" charset="0"/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600" b="1" kern="1200">
        <a:solidFill>
          <a:schemeClr val="bg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FF"/>
    <a:srgbClr val="FFCCFF"/>
    <a:srgbClr val="FF0000"/>
    <a:srgbClr val="003300"/>
    <a:srgbClr val="6600CC"/>
    <a:srgbClr val="33993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5" autoAdjust="0"/>
    <p:restoredTop sz="94609" autoAdjust="0"/>
  </p:normalViewPr>
  <p:slideViewPr>
    <p:cSldViewPr showGuides="1">
      <p:cViewPr varScale="1">
        <p:scale>
          <a:sx n="73" d="100"/>
          <a:sy n="73" d="100"/>
        </p:scale>
        <p:origin x="1074" y="-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59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1259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buFont typeface="Arial" panose="020B0604020202020204" pitchFamily="34" charset="0"/>
              <a:buNone/>
              <a:defRPr sz="1200" b="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E581232-D479-4F41-9E12-F6FAE3BB6C4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共阴极</a:t>
            </a:r>
            <a:r>
              <a:rPr lang="en-US" altLang="zh-CN"/>
              <a:t> </a:t>
            </a:r>
            <a:r>
              <a:rPr lang="zh-CN" altLang="en-US"/>
              <a:t>就像一堆灯泡，它们的一端都接在负极（地）上，你想让哪个亮，就把哪个的正极接到电源（给</a:t>
            </a:r>
            <a:r>
              <a:rPr lang="en-US" altLang="zh-CN"/>
              <a:t>1</a:t>
            </a:r>
            <a:r>
              <a:rPr lang="zh-CN" altLang="en-US"/>
              <a:t>）。</a:t>
            </a:r>
            <a:endParaRPr lang="zh-CN" altLang="en-US"/>
          </a:p>
          <a:p>
            <a:r>
              <a:rPr lang="zh-CN" altLang="en-US"/>
              <a:t>共阳极</a:t>
            </a:r>
            <a:r>
              <a:rPr lang="en-US" altLang="zh-CN"/>
              <a:t> </a:t>
            </a:r>
            <a:r>
              <a:rPr lang="zh-CN" altLang="en-US"/>
              <a:t>就像一堆灯泡，它们的一端都接在正极（电源）</a:t>
            </a:r>
            <a:r>
              <a:rPr lang="en-US" altLang="zh-CN"/>
              <a:t> </a:t>
            </a:r>
            <a:r>
              <a:rPr lang="zh-CN" altLang="en-US"/>
              <a:t>上，你想让哪个亮，就把哪个的负极接到地（给</a:t>
            </a:r>
            <a:r>
              <a:rPr lang="en-US" altLang="zh-CN"/>
              <a:t>0</a:t>
            </a:r>
            <a:r>
              <a:rPr lang="zh-CN" altLang="en-US"/>
              <a:t>）。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22860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tx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pic>
        <p:nvPicPr>
          <p:cNvPr id="5" name="Picture 3" descr="hdulogopptcornor(透明)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17475"/>
            <a:ext cx="3097212" cy="111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4" descr="SW이미지_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49500"/>
            <a:ext cx="914400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5"/>
          <p:cNvGrpSpPr/>
          <p:nvPr/>
        </p:nvGrpSpPr>
        <p:grpSpPr bwMode="auto">
          <a:xfrm>
            <a:off x="28575" y="4652963"/>
            <a:ext cx="9115425" cy="2205037"/>
            <a:chOff x="0" y="0"/>
            <a:chExt cx="5760" cy="1680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5760" cy="1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0" name="Group 8"/>
          <p:cNvGrpSpPr/>
          <p:nvPr/>
        </p:nvGrpSpPr>
        <p:grpSpPr bwMode="auto">
          <a:xfrm>
            <a:off x="0" y="4289425"/>
            <a:ext cx="9097963" cy="676275"/>
            <a:chOff x="0" y="0"/>
            <a:chExt cx="5731" cy="426"/>
          </a:xfrm>
        </p:grpSpPr>
        <p:sp>
          <p:nvSpPr>
            <p:cNvPr id="11" name="未知"/>
            <p:cNvSpPr/>
            <p:nvPr/>
          </p:nvSpPr>
          <p:spPr bwMode="auto">
            <a:xfrm flipV="1">
              <a:off x="0" y="0"/>
              <a:ext cx="5731" cy="364"/>
            </a:xfrm>
            <a:custGeom>
              <a:avLst/>
              <a:gdLst>
                <a:gd name="T0" fmla="*/ 0 w 5731"/>
                <a:gd name="T1" fmla="*/ 0 h 808"/>
                <a:gd name="T2" fmla="*/ 19 w 5731"/>
                <a:gd name="T3" fmla="*/ 126 h 808"/>
                <a:gd name="T4" fmla="*/ 1824 w 5731"/>
                <a:gd name="T5" fmla="*/ 333 h 808"/>
                <a:gd name="T6" fmla="*/ 3946 w 5731"/>
                <a:gd name="T7" fmla="*/ 313 h 808"/>
                <a:gd name="T8" fmla="*/ 5731 w 5731"/>
                <a:gd name="T9" fmla="*/ 134 h 808"/>
                <a:gd name="T10" fmla="*/ 5722 w 5731"/>
                <a:gd name="T11" fmla="*/ 69 h 808"/>
                <a:gd name="T12" fmla="*/ 0 w 5731"/>
                <a:gd name="T13" fmla="*/ 0 h 8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31" h="808">
                  <a:moveTo>
                    <a:pt x="0" y="0"/>
                  </a:moveTo>
                  <a:lnTo>
                    <a:pt x="19" y="279"/>
                  </a:lnTo>
                  <a:cubicBezTo>
                    <a:pt x="321" y="399"/>
                    <a:pt x="1170" y="671"/>
                    <a:pt x="1824" y="739"/>
                  </a:cubicBezTo>
                  <a:cubicBezTo>
                    <a:pt x="2478" y="808"/>
                    <a:pt x="3295" y="769"/>
                    <a:pt x="3946" y="695"/>
                  </a:cubicBezTo>
                  <a:cubicBezTo>
                    <a:pt x="4597" y="621"/>
                    <a:pt x="5435" y="387"/>
                    <a:pt x="5731" y="297"/>
                  </a:cubicBezTo>
                  <a:lnTo>
                    <a:pt x="5722" y="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未知"/>
            <p:cNvSpPr/>
            <p:nvPr/>
          </p:nvSpPr>
          <p:spPr bwMode="auto">
            <a:xfrm flipV="1">
              <a:off x="0" y="47"/>
              <a:ext cx="5731" cy="379"/>
            </a:xfrm>
            <a:custGeom>
              <a:avLst/>
              <a:gdLst>
                <a:gd name="T0" fmla="*/ 0 w 5731"/>
                <a:gd name="T1" fmla="*/ 16 h 842"/>
                <a:gd name="T2" fmla="*/ 26 w 5731"/>
                <a:gd name="T3" fmla="*/ 142 h 842"/>
                <a:gd name="T4" fmla="*/ 1795 w 5731"/>
                <a:gd name="T5" fmla="*/ 347 h 842"/>
                <a:gd name="T6" fmla="*/ 3821 w 5731"/>
                <a:gd name="T7" fmla="*/ 334 h 842"/>
                <a:gd name="T8" fmla="*/ 5731 w 5731"/>
                <a:gd name="T9" fmla="*/ 144 h 842"/>
                <a:gd name="T10" fmla="*/ 5693 w 5731"/>
                <a:gd name="T11" fmla="*/ 0 h 842"/>
                <a:gd name="T12" fmla="*/ 0 w 5731"/>
                <a:gd name="T13" fmla="*/ 16 h 8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31" h="842">
                  <a:moveTo>
                    <a:pt x="0" y="36"/>
                  </a:moveTo>
                  <a:lnTo>
                    <a:pt x="26" y="315"/>
                  </a:lnTo>
                  <a:cubicBezTo>
                    <a:pt x="325" y="438"/>
                    <a:pt x="1163" y="700"/>
                    <a:pt x="1795" y="771"/>
                  </a:cubicBezTo>
                  <a:cubicBezTo>
                    <a:pt x="2427" y="842"/>
                    <a:pt x="3165" y="817"/>
                    <a:pt x="3821" y="742"/>
                  </a:cubicBezTo>
                  <a:cubicBezTo>
                    <a:pt x="4477" y="667"/>
                    <a:pt x="5419" y="444"/>
                    <a:pt x="5731" y="320"/>
                  </a:cubicBezTo>
                  <a:lnTo>
                    <a:pt x="5693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1"/>
          <p:cNvGrpSpPr/>
          <p:nvPr/>
        </p:nvGrpSpPr>
        <p:grpSpPr bwMode="auto">
          <a:xfrm>
            <a:off x="0" y="0"/>
            <a:ext cx="9144000" cy="6867525"/>
            <a:chOff x="0" y="0"/>
            <a:chExt cx="5760" cy="4326"/>
          </a:xfrm>
        </p:grpSpPr>
        <p:sp>
          <p:nvSpPr>
            <p:cNvPr id="14" name="AutoShape 12"/>
            <p:cNvSpPr>
              <a:spLocks noChangeArrowheads="1"/>
            </p:cNvSpPr>
            <p:nvPr/>
          </p:nvSpPr>
          <p:spPr bwMode="auto">
            <a:xfrm>
              <a:off x="27" y="24"/>
              <a:ext cx="5709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1600" b="1">
                  <a:solidFill>
                    <a:schemeClr val="bg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未知"/>
            <p:cNvSpPr/>
            <p:nvPr/>
          </p:nvSpPr>
          <p:spPr bwMode="auto">
            <a:xfrm>
              <a:off x="3" y="0"/>
              <a:ext cx="288" cy="288"/>
            </a:xfrm>
            <a:custGeom>
              <a:avLst/>
              <a:gdLst>
                <a:gd name="T0" fmla="*/ 0 w 336"/>
                <a:gd name="T1" fmla="*/ 36 h 384"/>
                <a:gd name="T2" fmla="*/ 0 w 336"/>
                <a:gd name="T3" fmla="*/ 288 h 384"/>
                <a:gd name="T4" fmla="*/ 82 w 336"/>
                <a:gd name="T5" fmla="*/ 144 h 384"/>
                <a:gd name="T6" fmla="*/ 165 w 336"/>
                <a:gd name="T7" fmla="*/ 36 h 384"/>
                <a:gd name="T8" fmla="*/ 288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未知"/>
            <p:cNvSpPr/>
            <p:nvPr/>
          </p:nvSpPr>
          <p:spPr bwMode="auto">
            <a:xfrm rot="-5408600">
              <a:off x="-47" y="4030"/>
              <a:ext cx="336" cy="242"/>
            </a:xfrm>
            <a:custGeom>
              <a:avLst/>
              <a:gdLst>
                <a:gd name="T0" fmla="*/ 0 w 336"/>
                <a:gd name="T1" fmla="*/ 30 h 384"/>
                <a:gd name="T2" fmla="*/ 0 w 336"/>
                <a:gd name="T3" fmla="*/ 242 h 384"/>
                <a:gd name="T4" fmla="*/ 96 w 336"/>
                <a:gd name="T5" fmla="*/ 121 h 384"/>
                <a:gd name="T6" fmla="*/ 192 w 336"/>
                <a:gd name="T7" fmla="*/ 30 h 384"/>
                <a:gd name="T8" fmla="*/ 336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未知"/>
            <p:cNvSpPr/>
            <p:nvPr/>
          </p:nvSpPr>
          <p:spPr bwMode="auto">
            <a:xfrm>
              <a:off x="5520" y="3978"/>
              <a:ext cx="240" cy="348"/>
            </a:xfrm>
            <a:custGeom>
              <a:avLst/>
              <a:gdLst>
                <a:gd name="T0" fmla="*/ 240 w 246"/>
                <a:gd name="T1" fmla="*/ 0 h 348"/>
                <a:gd name="T2" fmla="*/ 160 w 246"/>
                <a:gd name="T3" fmla="*/ 196 h 348"/>
                <a:gd name="T4" fmla="*/ 82 w 246"/>
                <a:gd name="T5" fmla="*/ 282 h 348"/>
                <a:gd name="T6" fmla="*/ 0 w 246"/>
                <a:gd name="T7" fmla="*/ 342 h 348"/>
                <a:gd name="T8" fmla="*/ 240 w 246"/>
                <a:gd name="T9" fmla="*/ 348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6" h="348">
                  <a:moveTo>
                    <a:pt x="246" y="0"/>
                  </a:moveTo>
                  <a:lnTo>
                    <a:pt x="164" y="196"/>
                  </a:lnTo>
                  <a:lnTo>
                    <a:pt x="84" y="282"/>
                  </a:lnTo>
                  <a:lnTo>
                    <a:pt x="0" y="342"/>
                  </a:lnTo>
                  <a:lnTo>
                    <a:pt x="246" y="348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未知"/>
            <p:cNvSpPr/>
            <p:nvPr/>
          </p:nvSpPr>
          <p:spPr bwMode="auto">
            <a:xfrm rot="5400000">
              <a:off x="5472" y="0"/>
              <a:ext cx="288" cy="288"/>
            </a:xfrm>
            <a:custGeom>
              <a:avLst/>
              <a:gdLst>
                <a:gd name="T0" fmla="*/ 0 w 336"/>
                <a:gd name="T1" fmla="*/ 36 h 384"/>
                <a:gd name="T2" fmla="*/ 0 w 336"/>
                <a:gd name="T3" fmla="*/ 288 h 384"/>
                <a:gd name="T4" fmla="*/ 82 w 336"/>
                <a:gd name="T5" fmla="*/ 144 h 384"/>
                <a:gd name="T6" fmla="*/ 165 w 336"/>
                <a:gd name="T7" fmla="*/ 36 h 384"/>
                <a:gd name="T8" fmla="*/ 288 w 336"/>
                <a:gd name="T9" fmla="*/ 0 h 384"/>
                <a:gd name="T10" fmla="*/ 0 w 336"/>
                <a:gd name="T11" fmla="*/ 0 h 3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281" name="Rectangle 17"/>
          <p:cNvSpPr>
            <a:spLocks noGrp="1" noChangeArrowheads="1"/>
          </p:cNvSpPr>
          <p:nvPr>
            <p:ph type="ctrTitle" sz="quarter"/>
          </p:nvPr>
        </p:nvSpPr>
        <p:spPr>
          <a:xfrm>
            <a:off x="468313" y="1268413"/>
            <a:ext cx="8153400" cy="742950"/>
          </a:xfrm>
        </p:spPr>
        <p:txBody>
          <a:bodyPr/>
          <a:lstStyle>
            <a:lvl1pPr algn="ctr">
              <a:defRPr sz="3600" b="1"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  <a:endParaRPr lang="en-US" altLang="zh-CN" noProof="0"/>
          </a:p>
        </p:txBody>
      </p:sp>
      <p:sp>
        <p:nvSpPr>
          <p:cNvPr id="11282" name="Rectangle 1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03350" y="5127625"/>
            <a:ext cx="6400800" cy="5334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800">
                <a:solidFill>
                  <a:schemeClr val="bg1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  <a:endParaRPr lang="en-US" alt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4BF44-52A9-44E3-8CC4-F8CD65EDE601}" type="slidenum">
              <a:rPr lang="ko-KR" altLang="en-US"/>
            </a:fld>
            <a:endParaRPr lang="en-US" altLang="zh-CN"/>
          </a:p>
        </p:txBody>
      </p:sp>
      <p:sp>
        <p:nvSpPr>
          <p:cNvPr id="7" name="TextBox 6"/>
          <p:cNvSpPr txBox="1"/>
          <p:nvPr userDrawn="1"/>
        </p:nvSpPr>
        <p:spPr>
          <a:xfrm>
            <a:off x="5871845" y="0"/>
            <a:ext cx="32416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计算机组成与</a:t>
            </a:r>
            <a:r>
              <a:rPr 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数字逻辑综合实验</a:t>
            </a:r>
            <a:endParaRPr 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00CC1-0744-48B2-8447-8061AAB6DA89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341438"/>
            <a:ext cx="4038600" cy="5081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1341438"/>
            <a:ext cx="4038600" cy="50815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CBE80F-E860-4F9E-AA4B-9BA0C810528B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017E6-4774-424C-9183-6472F5B7888A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9457A-E9E4-41AE-A491-8F5F642B8391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EDD2F-AD2C-46A9-A8B9-736CA11FDBD4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748692-1058-410D-8C04-0751BB8C9CE4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C00414-ECC3-497E-890C-537E5004F049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D5694-63E5-46A1-A6AB-5A43B395D7A4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0538" y="333375"/>
            <a:ext cx="2124075" cy="60896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333375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章 实验系统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A7574-4597-44CF-ADCE-4775340046C9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배너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6713"/>
            <a:ext cx="9144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ChangeArrowheads="1"/>
          </p:cNvSpPr>
          <p:nvPr userDrawn="1"/>
        </p:nvSpPr>
        <p:spPr bwMode="auto">
          <a:xfrm>
            <a:off x="0" y="0"/>
            <a:ext cx="9144000" cy="33337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8" name="未知"/>
          <p:cNvSpPr/>
          <p:nvPr/>
        </p:nvSpPr>
        <p:spPr bwMode="auto">
          <a:xfrm>
            <a:off x="0" y="950913"/>
            <a:ext cx="9150350" cy="461962"/>
          </a:xfrm>
          <a:custGeom>
            <a:avLst/>
            <a:gdLst>
              <a:gd name="T0" fmla="*/ 6346 w 5768"/>
              <a:gd name="T1" fmla="*/ 460700 h 366"/>
              <a:gd name="T2" fmla="*/ 0 w 5768"/>
              <a:gd name="T3" fmla="*/ 310499 h 366"/>
              <a:gd name="T4" fmla="*/ 2914215 w 5768"/>
              <a:gd name="T5" fmla="*/ 40390 h 366"/>
              <a:gd name="T6" fmla="*/ 6298004 w 5768"/>
              <a:gd name="T7" fmla="*/ 65634 h 366"/>
              <a:gd name="T8" fmla="*/ 9144004 w 5768"/>
              <a:gd name="T9" fmla="*/ 291566 h 366"/>
              <a:gd name="T10" fmla="*/ 9150350 w 5768"/>
              <a:gd name="T11" fmla="*/ 461962 h 366"/>
              <a:gd name="T12" fmla="*/ 6346 w 5768"/>
              <a:gd name="T13" fmla="*/ 460700 h 36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768" h="366">
                <a:moveTo>
                  <a:pt x="4" y="365"/>
                </a:moveTo>
                <a:lnTo>
                  <a:pt x="0" y="246"/>
                </a:lnTo>
                <a:cubicBezTo>
                  <a:pt x="304" y="192"/>
                  <a:pt x="1175" y="64"/>
                  <a:pt x="1837" y="32"/>
                </a:cubicBezTo>
                <a:cubicBezTo>
                  <a:pt x="2499" y="0"/>
                  <a:pt x="3316" y="19"/>
                  <a:pt x="3970" y="52"/>
                </a:cubicBezTo>
                <a:cubicBezTo>
                  <a:pt x="4624" y="85"/>
                  <a:pt x="5464" y="179"/>
                  <a:pt x="5764" y="231"/>
                </a:cubicBezTo>
                <a:lnTo>
                  <a:pt x="5768" y="366"/>
                </a:lnTo>
                <a:lnTo>
                  <a:pt x="4" y="3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333375"/>
            <a:ext cx="7848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341438"/>
            <a:ext cx="8229600" cy="508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6192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AFFB2B-C28B-45EA-8C9C-1400926F539F}" type="datetime1">
              <a:rPr lang="zh-CN" altLang="en-US"/>
            </a:fld>
            <a:endParaRPr lang="en-US" altLang="zh-CN"/>
          </a:p>
        </p:txBody>
      </p:sp>
      <p:sp>
        <p:nvSpPr>
          <p:cNvPr id="10250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40650" y="6508750"/>
            <a:ext cx="134143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buFont typeface="Arial" panose="020B0604020202020204" pitchFamily="34" charset="0"/>
              <a:buNone/>
              <a:defRPr sz="1400" smtClean="0">
                <a:solidFill>
                  <a:schemeClr val="tx1"/>
                </a:solidFill>
                <a:ea typeface="Gulim" pitchFamily="34" charset="-127"/>
              </a:defRPr>
            </a:lvl1pPr>
          </a:lstStyle>
          <a:p>
            <a:pPr>
              <a:defRPr/>
            </a:pPr>
            <a:fld id="{5E0B660C-5D96-4EFE-8EA2-3EACB708FB18}" type="slidenum">
              <a:rPr lang="ko-KR" altLang="en-US"/>
            </a:fld>
            <a:endParaRPr lang="en-US" altLang="zh-CN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08675" y="0"/>
            <a:ext cx="32353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buFont typeface="Arial" panose="020B0604020202020204" pitchFamily="34" charset="0"/>
              <a:buNone/>
              <a:defRPr smtClean="0">
                <a:latin typeface="+mn-lt"/>
              </a:defRPr>
            </a:lvl1pPr>
          </a:lstStyle>
          <a:p>
            <a:pPr>
              <a:defRPr/>
            </a:pPr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扩展实验项目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uiExpand="1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2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400" b="1">
          <a:solidFill>
            <a:schemeClr val="tx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400" b="1">
          <a:solidFill>
            <a:schemeClr val="tx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n"/>
        <a:defRPr sz="2000" b="1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GIF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AA609B76-BD0B-497B-AFE2-ECEE7E6C2DE1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6BC1231-6167-4764-939B-C6E894A4C72D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5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附加实验：数码管扫描显示</a:t>
            </a:r>
            <a:endParaRPr lang="zh-CN" altLang="en-US" b="1" dirty="0"/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/>
            <a:r>
              <a:rPr lang="en-US" altLang="zh-CN" dirty="0"/>
              <a:t>1</a:t>
            </a:r>
            <a:r>
              <a:rPr lang="zh-CN" altLang="en-US" dirty="0"/>
              <a:t>、实验目的 </a:t>
            </a:r>
            <a:endParaRPr lang="zh-CN" altLang="en-US" dirty="0"/>
          </a:p>
          <a:p>
            <a:pPr lvl="1"/>
            <a:r>
              <a:rPr lang="zh-CN" altLang="zh-CN" dirty="0"/>
              <a:t>学习数码管显示原理，掌握数码管的动态扫描方法；</a:t>
            </a:r>
            <a:endParaRPr lang="zh-CN" altLang="zh-CN" dirty="0"/>
          </a:p>
          <a:p>
            <a:pPr lvl="1"/>
            <a:r>
              <a:rPr lang="zh-CN" altLang="zh-CN" dirty="0"/>
              <a:t>掌握灵活运用</a:t>
            </a:r>
            <a:r>
              <a:rPr lang="en-US" altLang="zh-CN" dirty="0"/>
              <a:t>Verilog HDL</a:t>
            </a:r>
            <a:r>
              <a:rPr lang="zh-CN" altLang="zh-CN" dirty="0"/>
              <a:t>语言进行各种描述与建模的技巧和方法。</a:t>
            </a:r>
            <a:endParaRPr lang="zh-CN" altLang="zh-CN" dirty="0"/>
          </a:p>
          <a:p>
            <a:pPr marL="914400" lvl="1" indent="-457200"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C682C7-7075-4A50-BE72-F0A52EF1764F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B75905F-91F0-46D1-9ED8-6386E19347F8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1223466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marL="533400" indent="-533400"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数码管显示原理</a:t>
            </a:r>
            <a:endParaRPr lang="zh-CN" altLang="en-US" dirty="0"/>
          </a:p>
        </p:txBody>
      </p:sp>
      <p:sp>
        <p:nvSpPr>
          <p:cNvPr id="2" name="Rectangle 8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27584" y="2730835"/>
          <a:ext cx="7488832" cy="293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0" name="Visio" r:id="rId1" imgW="5080000" imgH="1993900" progId="Visio.Drawing.11">
                  <p:embed/>
                </p:oleObj>
              </mc:Choice>
              <mc:Fallback>
                <p:oleObj name="Visio" r:id="rId1" imgW="5080000" imgH="1993900" progId="Visio.Drawing.11">
                  <p:embed/>
                  <p:pic>
                    <p:nvPicPr>
                      <p:cNvPr id="0" name="图片 563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730835"/>
                        <a:ext cx="7488832" cy="2930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39552" y="5693186"/>
            <a:ext cx="83169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2000" dirty="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a</a:t>
            </a:r>
            <a:r>
              <a:rPr lang="zh-CN" altLang="zh-CN" sz="2000" dirty="0">
                <a:solidFill>
                  <a:schemeClr val="tx1"/>
                </a:solidFill>
                <a:latin typeface="+mn-lt"/>
                <a:ea typeface="+mn-ea"/>
              </a:rPr>
              <a:t>）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8</a:t>
            </a:r>
            <a:r>
              <a:rPr lang="zh-CN" altLang="zh-CN" sz="2000" dirty="0">
                <a:solidFill>
                  <a:schemeClr val="tx1"/>
                </a:solidFill>
                <a:latin typeface="+mn-lt"/>
                <a:ea typeface="+mn-ea"/>
              </a:rPr>
              <a:t>段符号及引脚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    </a:t>
            </a:r>
            <a:r>
              <a:rPr lang="zh-CN" altLang="zh-CN" sz="2000" dirty="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b</a:t>
            </a:r>
            <a:r>
              <a:rPr lang="zh-CN" altLang="zh-CN" sz="2000" dirty="0">
                <a:solidFill>
                  <a:schemeClr val="tx1"/>
                </a:solidFill>
                <a:latin typeface="+mn-lt"/>
                <a:ea typeface="+mn-ea"/>
              </a:rPr>
              <a:t>）共阴极连接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	          </a:t>
            </a:r>
            <a:r>
              <a:rPr lang="zh-CN" altLang="zh-CN" sz="2000" dirty="0">
                <a:solidFill>
                  <a:schemeClr val="tx1"/>
                </a:solidFill>
                <a:latin typeface="+mn-lt"/>
                <a:ea typeface="+mn-ea"/>
              </a:rPr>
              <a:t>（</a:t>
            </a:r>
            <a:r>
              <a:rPr lang="en-US" altLang="zh-CN" sz="2000" dirty="0">
                <a:solidFill>
                  <a:schemeClr val="tx1"/>
                </a:solidFill>
                <a:latin typeface="+mn-lt"/>
                <a:ea typeface="+mn-ea"/>
              </a:rPr>
              <a:t>c</a:t>
            </a:r>
            <a:r>
              <a:rPr lang="zh-CN" altLang="zh-CN" sz="2000" dirty="0">
                <a:solidFill>
                  <a:schemeClr val="tx1"/>
                </a:solidFill>
                <a:latin typeface="+mn-lt"/>
                <a:ea typeface="+mn-ea"/>
              </a:rPr>
              <a:t>）共阳极连接</a:t>
            </a:r>
            <a:endParaRPr lang="zh-CN" altLang="en-US" sz="2000" dirty="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5" name="云形标注 4"/>
          <p:cNvSpPr/>
          <p:nvPr/>
        </p:nvSpPr>
        <p:spPr bwMode="auto">
          <a:xfrm>
            <a:off x="5076056" y="1071042"/>
            <a:ext cx="1836204" cy="720080"/>
          </a:xfrm>
          <a:prstGeom prst="cloudCallout">
            <a:avLst>
              <a:gd name="adj1" fmla="val -50790"/>
              <a:gd name="adj2" fmla="val 233138"/>
            </a:avLst>
          </a:prstGeom>
          <a:solidFill>
            <a:schemeClr val="accent2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发光二极管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宋体" panose="02010600030101010101" pitchFamily="2" charset="-122"/>
              </a:rPr>
              <a:t>LED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16471" name="Picture 8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932" y="1937445"/>
            <a:ext cx="2723212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C682C7-7075-4A50-BE72-F0A52EF1764F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B75905F-91F0-46D1-9ED8-6386E19347F8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5039890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marL="533400" indent="-533400"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数码管显示原理</a:t>
            </a:r>
            <a:endParaRPr lang="en-US" altLang="zh-CN" dirty="0"/>
          </a:p>
          <a:p>
            <a:pPr marL="933450" lvl="1" indent="-533400" eaLnBrk="1" hangingPunct="1"/>
            <a:r>
              <a:rPr lang="zh-CN" altLang="en-US" dirty="0"/>
              <a:t>①共阴极接法：</a:t>
            </a:r>
            <a:endParaRPr lang="en-US" altLang="zh-CN" dirty="0"/>
          </a:p>
          <a:p>
            <a:pPr marL="1333500" lvl="2" indent="-533400" eaLnBrk="1" hangingPunct="1"/>
            <a:r>
              <a:rPr lang="zh-CN" altLang="en-US" dirty="0"/>
              <a:t>共阴极接地；</a:t>
            </a:r>
            <a:endParaRPr lang="en-US" altLang="zh-CN" dirty="0"/>
          </a:p>
          <a:p>
            <a:pPr marL="1333500" lvl="2" indent="-533400" eaLnBrk="1" hangingPunct="1"/>
            <a:r>
              <a:rPr lang="zh-CN" altLang="zh-CN" dirty="0"/>
              <a:t>段选线</a:t>
            </a:r>
            <a:r>
              <a:rPr lang="en-US" altLang="zh-CN" dirty="0"/>
              <a:t>=H</a:t>
            </a:r>
            <a:r>
              <a:rPr lang="zh-CN" altLang="en-US" dirty="0"/>
              <a:t>：点亮该段；</a:t>
            </a:r>
            <a:endParaRPr lang="en-US" altLang="zh-CN" dirty="0"/>
          </a:p>
          <a:p>
            <a:pPr marL="1333500" lvl="2" indent="-533400" eaLnBrk="1" hangingPunct="1"/>
            <a:r>
              <a:rPr lang="zh-CN" altLang="en-US" dirty="0"/>
              <a:t>段选线</a:t>
            </a:r>
            <a:r>
              <a:rPr lang="en-US" altLang="zh-CN" dirty="0"/>
              <a:t>=L</a:t>
            </a:r>
            <a:r>
              <a:rPr lang="zh-CN" altLang="en-US" dirty="0"/>
              <a:t>：熄灭该段</a:t>
            </a:r>
            <a:r>
              <a:rPr lang="zh-CN" altLang="zh-CN" dirty="0"/>
              <a:t>。</a:t>
            </a:r>
            <a:endParaRPr lang="en-US" altLang="zh-CN" dirty="0"/>
          </a:p>
          <a:p>
            <a:pPr marL="933450" lvl="1" indent="-533400" eaLnBrk="1" hangingPunct="1"/>
            <a:r>
              <a:rPr lang="zh-CN" altLang="en-US" dirty="0"/>
              <a:t>②共阳极接法：</a:t>
            </a:r>
            <a:endParaRPr lang="en-US" altLang="zh-CN" dirty="0"/>
          </a:p>
          <a:p>
            <a:pPr marL="1333500" lvl="2" indent="-533400" eaLnBrk="1" hangingPunct="1"/>
            <a:r>
              <a:rPr lang="zh-CN" altLang="en-US" dirty="0"/>
              <a:t>共阳极接电源</a:t>
            </a:r>
            <a:r>
              <a:rPr lang="en-US" altLang="zh-CN" dirty="0"/>
              <a:t>+5V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333500" lvl="2" indent="-533400" eaLnBrk="1" hangingPunct="1"/>
            <a:r>
              <a:rPr lang="zh-CN" altLang="zh-CN" dirty="0"/>
              <a:t>段选线</a:t>
            </a:r>
            <a:r>
              <a:rPr lang="en-US" altLang="zh-CN" dirty="0"/>
              <a:t>=H</a:t>
            </a:r>
            <a:r>
              <a:rPr lang="zh-CN" altLang="en-US" dirty="0"/>
              <a:t>：熄灭该段；</a:t>
            </a:r>
            <a:endParaRPr lang="en-US" altLang="zh-CN" dirty="0"/>
          </a:p>
          <a:p>
            <a:pPr marL="1333500" lvl="2" indent="-533400" eaLnBrk="1" hangingPunct="1"/>
            <a:r>
              <a:rPr lang="zh-CN" altLang="en-US" dirty="0"/>
              <a:t>段选线</a:t>
            </a:r>
            <a:r>
              <a:rPr lang="en-US" altLang="zh-CN" dirty="0"/>
              <a:t>=L</a:t>
            </a:r>
            <a:r>
              <a:rPr lang="zh-CN" altLang="en-US" dirty="0"/>
              <a:t>：点亮该段</a:t>
            </a:r>
            <a:r>
              <a:rPr lang="zh-CN" altLang="zh-CN" dirty="0"/>
              <a:t>。</a:t>
            </a:r>
            <a:endParaRPr lang="zh-CN" altLang="en-US" dirty="0"/>
          </a:p>
          <a:p>
            <a:pPr marL="800100" lvl="2" indent="0" eaLnBrk="1" hangingPunct="1">
              <a:buNone/>
            </a:pPr>
            <a:endParaRPr lang="en-US" altLang="zh-CN" dirty="0"/>
          </a:p>
        </p:txBody>
      </p:sp>
      <p:sp>
        <p:nvSpPr>
          <p:cNvPr id="2" name="Rectangle 8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6471" name="Picture 8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852936"/>
            <a:ext cx="2723212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C682C7-7075-4A50-BE72-F0A52EF1764F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B75905F-91F0-46D1-9ED8-6386E19347F8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1943546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marL="533400" indent="-533400"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数码管显示原理</a:t>
            </a:r>
            <a:endParaRPr lang="en-US" altLang="zh-CN" dirty="0"/>
          </a:p>
          <a:p>
            <a:pPr marL="933450" lvl="1" indent="-533400" eaLnBrk="1" hangingPunct="1"/>
            <a:r>
              <a:rPr lang="zh-CN" altLang="en-US" dirty="0"/>
              <a:t>③字形显示：形状</a:t>
            </a:r>
            <a:endParaRPr lang="en-US" altLang="zh-CN" dirty="0"/>
          </a:p>
        </p:txBody>
      </p:sp>
      <p:sp>
        <p:nvSpPr>
          <p:cNvPr id="2" name="Rectangle 8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935596" y="3140968"/>
          <a:ext cx="7272808" cy="222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4" name="Visio" r:id="rId1" imgW="7467600" imgH="2311400" progId="Visio.Drawing.11">
                  <p:embed/>
                </p:oleObj>
              </mc:Choice>
              <mc:Fallback>
                <p:oleObj name="Visio" r:id="rId1" imgW="7467600" imgH="2311400" progId="Visio.Drawing.11">
                  <p:embed/>
                  <p:pic>
                    <p:nvPicPr>
                      <p:cNvPr id="0" name="图片 573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5596" y="3140968"/>
                        <a:ext cx="7272808" cy="22232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C682C7-7075-4A50-BE72-F0A52EF1764F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B75905F-91F0-46D1-9ED8-6386E19347F8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1583506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marL="533400" indent="-533400"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 数码管显示原理</a:t>
            </a:r>
            <a:endParaRPr lang="en-US" altLang="zh-CN" dirty="0"/>
          </a:p>
          <a:p>
            <a:pPr marL="933450" lvl="1" indent="-533400" eaLnBrk="1" hangingPunct="1"/>
            <a:r>
              <a:rPr lang="zh-CN" altLang="en-US" dirty="0"/>
              <a:t>③字形显示：字形编码</a:t>
            </a:r>
            <a:endParaRPr lang="en-US" altLang="zh-CN" dirty="0"/>
          </a:p>
        </p:txBody>
      </p:sp>
      <p:sp>
        <p:nvSpPr>
          <p:cNvPr id="2" name="Rectangle 8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57553" y="2924944"/>
          <a:ext cx="8028893" cy="345939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{35758FB7-9AC5-4552-8A53-C91805E547FA}</a:tableStyleId>
              </a:tblPr>
              <a:tblGrid>
                <a:gridCol w="1422158"/>
                <a:gridCol w="2685777"/>
                <a:gridCol w="1274664"/>
                <a:gridCol w="2646294"/>
              </a:tblGrid>
              <a:tr h="6649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十六进制</a:t>
                      </a:r>
                      <a:endParaRPr lang="en-US" altLang="zh-CN" sz="2000" b="1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数字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数码管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段编码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A B C D E F G DP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十六进制</a:t>
                      </a:r>
                      <a:endParaRPr lang="en-US" altLang="zh-CN" sz="2000" b="1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</a:rPr>
                        <a:t>数字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数码管</a:t>
                      </a: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r>
                        <a:rPr lang="zh-CN" sz="2000" b="1" kern="100">
                          <a:solidFill>
                            <a:schemeClr val="tx1"/>
                          </a:solidFill>
                          <a:effectLst/>
                        </a:rPr>
                        <a:t>段编码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A B C D E F G DP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930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0 0 0 0 0 0 1 1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0 0 0 0 0 0 0 1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930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1 0 0 1 1 1 1 1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0 0 0 0 1 0 0 1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930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0 0 1 0 0 1 0 1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0 0 0 1 0 0 0 1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930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0 0 0 0 1 1 0 1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1 1 0 0 0 0 0 1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930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1 0 0 1 1 0 0 1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0 1 1 0 0 0 1 1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930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0 1 0 0 1 0 0 1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1 0 0 0 0 1 0 1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930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0 1 0 0 0 0 0 1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0 1 1 0 0 0 0 1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4930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0 0 0 1 1 1 1 1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zh-CN" sz="2000" b="1" kern="10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</a:rPr>
                        <a:t>0 1 1 1 0 0 0 1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pic>
        <p:nvPicPr>
          <p:cNvPr id="50177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897310"/>
            <a:ext cx="1440160" cy="18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483768" y="4880570"/>
            <a:ext cx="504056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共阴极接法？共阳极接法？</a:t>
            </a:r>
            <a:endParaRPr lang="zh-CN" altLang="en-US" sz="28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C682C7-7075-4A50-BE72-F0A52EF1764F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B75905F-91F0-46D1-9ED8-6386E19347F8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2807642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marL="533400" indent="-533400" eaLnBrk="1" hangingPunct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 </a:t>
            </a:r>
            <a:r>
              <a:rPr lang="en-US" altLang="zh-CN" dirty="0"/>
              <a:t>HDU-XL-01</a:t>
            </a:r>
            <a:r>
              <a:rPr lang="zh-CN" altLang="en-US" dirty="0"/>
              <a:t>教学开发板的数码管</a:t>
            </a:r>
            <a:endParaRPr lang="en-US" altLang="zh-CN" dirty="0"/>
          </a:p>
          <a:p>
            <a:pPr marL="933450" lvl="1" indent="-533400" eaLnBrk="1" hangingPunct="1"/>
            <a:r>
              <a:rPr lang="en-US" altLang="zh-CN" dirty="0"/>
              <a:t>8</a:t>
            </a:r>
            <a:r>
              <a:rPr lang="zh-CN" altLang="en-US" dirty="0"/>
              <a:t>个数码管，共阳极接法，</a:t>
            </a:r>
            <a:r>
              <a:rPr lang="en-US" altLang="zh-CN" dirty="0"/>
              <a:t>8</a:t>
            </a:r>
            <a:r>
              <a:rPr lang="zh-CN" altLang="en-US" dirty="0"/>
              <a:t>个共阳极，由</a:t>
            </a:r>
            <a:r>
              <a:rPr lang="en-US" altLang="zh-CN" dirty="0"/>
              <a:t>DS0~DS2</a:t>
            </a:r>
            <a:r>
              <a:rPr lang="zh-CN" altLang="en-US" dirty="0"/>
              <a:t>经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  <a:r>
              <a:rPr lang="zh-CN" altLang="en-US" dirty="0"/>
              <a:t>译码器输出（低电平有效）</a:t>
            </a:r>
            <a:r>
              <a:rPr lang="zh-CN" altLang="en-US" dirty="0">
                <a:solidFill>
                  <a:srgbClr val="FF0000"/>
                </a:solidFill>
              </a:rPr>
              <a:t>对数码管进行片选</a:t>
            </a:r>
            <a:r>
              <a:rPr lang="zh-CN" altLang="en-US" dirty="0"/>
              <a:t>，</a:t>
            </a:r>
            <a:r>
              <a:rPr lang="en-US" altLang="zh-CN" dirty="0"/>
              <a:t>3:8</a:t>
            </a:r>
            <a:r>
              <a:rPr lang="zh-CN" altLang="en-US" dirty="0"/>
              <a:t>译码器的使能信号是</a:t>
            </a:r>
            <a:r>
              <a:rPr lang="en-US" altLang="zh-CN" dirty="0">
                <a:solidFill>
                  <a:srgbClr val="FF0000"/>
                </a:solidFill>
              </a:rPr>
              <a:t>DS3</a:t>
            </a:r>
            <a:r>
              <a:rPr lang="zh-CN" altLang="en-US" dirty="0"/>
              <a:t>；</a:t>
            </a:r>
            <a:r>
              <a:rPr lang="en-US" altLang="zh-CN" dirty="0"/>
              <a:t> 8</a:t>
            </a:r>
            <a:r>
              <a:rPr lang="zh-CN" altLang="zh-CN" dirty="0"/>
              <a:t>个数码管的</a:t>
            </a:r>
            <a:r>
              <a:rPr lang="en-US" altLang="zh-CN" dirty="0"/>
              <a:t>8</a:t>
            </a:r>
            <a:r>
              <a:rPr lang="zh-CN" altLang="zh-CN" dirty="0"/>
              <a:t>段</a:t>
            </a:r>
            <a:r>
              <a:rPr lang="en-US" altLang="zh-CN" dirty="0"/>
              <a:t>LED</a:t>
            </a:r>
            <a:r>
              <a:rPr lang="zh-CN" altLang="zh-CN" dirty="0"/>
              <a:t>（</a:t>
            </a:r>
            <a:r>
              <a:rPr lang="en-US" altLang="zh-CN" dirty="0"/>
              <a:t>A~G</a:t>
            </a:r>
            <a:r>
              <a:rPr lang="zh-CN" altLang="zh-CN" dirty="0"/>
              <a:t>和小数点）的阴极也各自接在一起</a:t>
            </a:r>
            <a:r>
              <a:rPr lang="zh-CN" altLang="en-US" dirty="0"/>
              <a:t>；</a:t>
            </a:r>
            <a:endParaRPr lang="en-US" altLang="zh-CN" dirty="0"/>
          </a:p>
        </p:txBody>
      </p:sp>
      <p:sp>
        <p:nvSpPr>
          <p:cNvPr id="2" name="Rectangle 8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3873725"/>
            <a:ext cx="4661061" cy="2860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C682C7-7075-4A50-BE72-F0A52EF1764F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B75905F-91F0-46D1-9ED8-6386E19347F8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2735634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marL="533400" indent="-533400" eaLnBrk="1" hangingPunct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 HDU-XL-01</a:t>
            </a:r>
            <a:r>
              <a:rPr lang="zh-CN" altLang="en-US" dirty="0"/>
              <a:t>教学开发板的数码管</a:t>
            </a:r>
            <a:endParaRPr lang="en-US" altLang="zh-CN" dirty="0"/>
          </a:p>
          <a:p>
            <a:pPr marL="933450" lvl="1" indent="-533400" eaLnBrk="1" hangingPunct="1"/>
            <a:r>
              <a:rPr lang="en-US" altLang="zh-CN" dirty="0"/>
              <a:t>AN0~AN7</a:t>
            </a:r>
            <a:r>
              <a:rPr lang="zh-CN" altLang="en-US" dirty="0"/>
              <a:t>：</a:t>
            </a:r>
            <a:r>
              <a:rPr lang="zh-CN" altLang="zh-CN" dirty="0">
                <a:solidFill>
                  <a:srgbClr val="FF0000"/>
                </a:solidFill>
              </a:rPr>
              <a:t>位选信号</a:t>
            </a:r>
            <a:r>
              <a:rPr lang="zh-CN" altLang="en-US" dirty="0"/>
              <a:t>；</a:t>
            </a:r>
            <a:r>
              <a:rPr lang="en-US" altLang="zh-CN" dirty="0"/>
              <a:t>CA~CG</a:t>
            </a:r>
            <a:r>
              <a:rPr lang="zh-CN" altLang="zh-CN" dirty="0"/>
              <a:t>、</a:t>
            </a:r>
            <a:r>
              <a:rPr lang="en-US" altLang="zh-CN" dirty="0"/>
              <a:t>DP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FF0000"/>
                </a:solidFill>
              </a:rPr>
              <a:t>段选信号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33450" lvl="1" indent="-533400" eaLnBrk="1" hangingPunct="1"/>
            <a:r>
              <a:rPr lang="zh-CN" altLang="en-US" dirty="0">
                <a:solidFill>
                  <a:srgbClr val="FF0000"/>
                </a:solidFill>
              </a:rPr>
              <a:t>使</a:t>
            </a:r>
            <a:r>
              <a:rPr lang="zh-CN" altLang="zh-CN" dirty="0">
                <a:solidFill>
                  <a:srgbClr val="FF0000"/>
                </a:solidFill>
              </a:rPr>
              <a:t>某个数码管</a:t>
            </a:r>
            <a:r>
              <a:rPr lang="zh-CN" altLang="en-US" dirty="0">
                <a:solidFill>
                  <a:srgbClr val="FF0000"/>
                </a:solidFill>
              </a:rPr>
              <a:t>显示某个数字</a:t>
            </a:r>
            <a:r>
              <a:rPr lang="zh-CN" altLang="en-US" dirty="0"/>
              <a:t>：</a:t>
            </a:r>
            <a:r>
              <a:rPr lang="zh-CN" altLang="zh-CN" dirty="0"/>
              <a:t>对应的</a:t>
            </a:r>
            <a:r>
              <a:rPr lang="zh-CN" altLang="en-US" dirty="0">
                <a:solidFill>
                  <a:srgbClr val="FF0000"/>
                </a:solidFill>
              </a:rPr>
              <a:t>位选</a:t>
            </a:r>
            <a:r>
              <a:rPr lang="en-US" altLang="zh-CN" dirty="0" err="1">
                <a:solidFill>
                  <a:srgbClr val="FF0000"/>
                </a:solidFill>
              </a:rPr>
              <a:t>ANi</a:t>
            </a:r>
            <a:r>
              <a:rPr lang="en-US" altLang="zh-CN" dirty="0">
                <a:solidFill>
                  <a:srgbClr val="FF0000"/>
                </a:solidFill>
              </a:rPr>
              <a:t>=0</a:t>
            </a:r>
            <a:r>
              <a:rPr lang="zh-CN" altLang="zh-CN" dirty="0"/>
              <a:t>（反相使得共阳极</a:t>
            </a:r>
            <a:r>
              <a:rPr lang="en-US" altLang="zh-CN" dirty="0"/>
              <a:t>=1</a:t>
            </a:r>
            <a:r>
              <a:rPr lang="zh-CN" altLang="zh-CN" dirty="0"/>
              <a:t>）；</a:t>
            </a:r>
            <a:r>
              <a:rPr lang="zh-CN" altLang="en-US" dirty="0">
                <a:solidFill>
                  <a:srgbClr val="FF0000"/>
                </a:solidFill>
              </a:rPr>
              <a:t>段选为数字对应的字形编码</a:t>
            </a:r>
            <a:r>
              <a:rPr lang="zh-CN" altLang="zh-CN" dirty="0"/>
              <a:t>。</a:t>
            </a:r>
            <a:endParaRPr lang="en-US" altLang="zh-CN" dirty="0"/>
          </a:p>
        </p:txBody>
      </p:sp>
      <p:sp>
        <p:nvSpPr>
          <p:cNvPr id="2" name="Rectangle 8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1259632" y="3844668"/>
            <a:ext cx="6624736" cy="264770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C682C7-7075-4A50-BE72-F0A52EF1764F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B75905F-91F0-46D1-9ED8-6386E19347F8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6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5255914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2</a:t>
            </a:r>
            <a:r>
              <a:rPr lang="zh-CN" altLang="en-US" dirty="0"/>
              <a:t>、实验内容与原理</a:t>
            </a:r>
            <a:endParaRPr lang="en-US" altLang="zh-CN" dirty="0"/>
          </a:p>
          <a:p>
            <a:pPr marL="533400" indent="-533400" eaLnBrk="1" hangingPunct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 数码管的动态扫描</a:t>
            </a:r>
            <a:endParaRPr lang="zh-CN" altLang="en-US" dirty="0"/>
          </a:p>
          <a:p>
            <a:pPr marL="933450" lvl="1" indent="-533400" eaLnBrk="1" hangingPunct="1"/>
            <a:r>
              <a:rPr lang="zh-CN" altLang="en-US" dirty="0"/>
              <a:t>动态扫描相比静态显示有何优点？有何缺点？</a:t>
            </a:r>
            <a:endParaRPr lang="en-US" altLang="zh-CN" dirty="0"/>
          </a:p>
          <a:p>
            <a:pPr marL="933450" lvl="1" indent="-533400" eaLnBrk="1" hangingPunct="1"/>
            <a:r>
              <a:rPr lang="zh-CN" altLang="en-US" dirty="0"/>
              <a:t>动态扫描目的：</a:t>
            </a:r>
            <a:r>
              <a:rPr lang="zh-CN" altLang="en-US" dirty="0">
                <a:solidFill>
                  <a:srgbClr val="0000FF"/>
                </a:solidFill>
              </a:rPr>
              <a:t>让一组数码管稳定显示一个数字</a:t>
            </a:r>
            <a:endParaRPr lang="en-US" altLang="zh-CN" dirty="0">
              <a:solidFill>
                <a:srgbClr val="0000FF"/>
              </a:solidFill>
            </a:endParaRPr>
          </a:p>
          <a:p>
            <a:pPr marL="933450" lvl="1" indent="-533400" eaLnBrk="1" hangingPunct="1"/>
            <a:r>
              <a:rPr lang="zh-CN" altLang="en-US" dirty="0">
                <a:solidFill>
                  <a:srgbClr val="FF0000"/>
                </a:solidFill>
              </a:rPr>
              <a:t>方法：轮流显示，刷新频率超过</a:t>
            </a:r>
            <a:r>
              <a:rPr lang="en-US" altLang="zh-CN" dirty="0">
                <a:solidFill>
                  <a:srgbClr val="FF0000"/>
                </a:solidFill>
              </a:rPr>
              <a:t>50Hz</a:t>
            </a:r>
            <a:r>
              <a:rPr lang="zh-CN" altLang="en-US" dirty="0">
                <a:solidFill>
                  <a:srgbClr val="FF0000"/>
                </a:solidFill>
              </a:rPr>
              <a:t>；</a:t>
            </a:r>
            <a:endParaRPr lang="en-US" altLang="zh-CN" dirty="0">
              <a:solidFill>
                <a:srgbClr val="FF0000"/>
              </a:solidFill>
            </a:endParaRPr>
          </a:p>
          <a:p>
            <a:pPr marL="1333500" lvl="2" indent="-533400" eaLnBrk="1" hangingPunct="1"/>
            <a:r>
              <a:rPr lang="zh-CN" altLang="en-US" dirty="0"/>
              <a:t>假设刷新频率</a:t>
            </a:r>
            <a:r>
              <a:rPr lang="en-US" altLang="zh-CN" dirty="0"/>
              <a:t>=62.5Hz</a:t>
            </a:r>
            <a:r>
              <a:rPr lang="zh-CN" altLang="en-US" dirty="0"/>
              <a:t>，则刷新周期</a:t>
            </a:r>
            <a:r>
              <a:rPr lang="en-US" altLang="zh-CN" dirty="0"/>
              <a:t>=16ms</a:t>
            </a:r>
            <a:r>
              <a:rPr lang="zh-CN" altLang="en-US" dirty="0"/>
              <a:t>；则</a:t>
            </a:r>
            <a:r>
              <a:rPr lang="en-US" altLang="zh-CN" dirty="0"/>
              <a:t>4</a:t>
            </a:r>
            <a:r>
              <a:rPr lang="zh-CN" altLang="en-US" dirty="0"/>
              <a:t>个数码管分别点亮显示数字的时间是</a:t>
            </a:r>
            <a:r>
              <a:rPr lang="en-US" altLang="zh-CN" dirty="0"/>
              <a:t>4ms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333500" lvl="2" indent="-533400" eaLnBrk="1" hangingPunct="1"/>
            <a:r>
              <a:rPr lang="zh-CN" altLang="en-US" dirty="0"/>
              <a:t>假设显示数字“</a:t>
            </a:r>
            <a:r>
              <a:rPr lang="en-US" altLang="zh-CN" dirty="0"/>
              <a:t>5678</a:t>
            </a:r>
            <a:r>
              <a:rPr lang="zh-CN" altLang="en-US" dirty="0"/>
              <a:t>”，则</a:t>
            </a:r>
            <a:endParaRPr lang="en-US" altLang="zh-CN" dirty="0"/>
          </a:p>
          <a:p>
            <a:pPr marL="1529080" lvl="3" indent="-271780" eaLnBrk="1" hangingPunct="1"/>
            <a:r>
              <a:rPr lang="en-US" altLang="zh-CN" dirty="0"/>
              <a:t>AN[3:0]=0111</a:t>
            </a:r>
            <a:r>
              <a:rPr lang="zh-CN" altLang="en-US" dirty="0"/>
              <a:t>，</a:t>
            </a:r>
            <a:r>
              <a:rPr lang="en-US" altLang="zh-CN" dirty="0" err="1"/>
              <a:t>seg</a:t>
            </a:r>
            <a:r>
              <a:rPr lang="en-US" altLang="zh-CN" dirty="0"/>
              <a:t>=‘5’</a:t>
            </a:r>
            <a:r>
              <a:rPr lang="zh-CN" altLang="en-US" dirty="0"/>
              <a:t>的显示码；</a:t>
            </a:r>
            <a:endParaRPr lang="en-US" altLang="zh-CN" dirty="0"/>
          </a:p>
          <a:p>
            <a:pPr marL="1529080" lvl="3" indent="-271780" eaLnBrk="1" hangingPunct="1"/>
            <a:r>
              <a:rPr lang="en-US" altLang="zh-CN" dirty="0"/>
              <a:t>4ms</a:t>
            </a:r>
            <a:r>
              <a:rPr lang="zh-CN" altLang="en-US" dirty="0"/>
              <a:t>后，</a:t>
            </a:r>
            <a:r>
              <a:rPr lang="en-US" altLang="zh-CN" dirty="0"/>
              <a:t>AN[3:0]=1011</a:t>
            </a:r>
            <a:r>
              <a:rPr lang="zh-CN" altLang="en-US" dirty="0"/>
              <a:t>，</a:t>
            </a:r>
            <a:r>
              <a:rPr lang="en-US" altLang="zh-CN" dirty="0" err="1"/>
              <a:t>seg</a:t>
            </a:r>
            <a:r>
              <a:rPr lang="en-US" altLang="zh-CN" dirty="0"/>
              <a:t>=‘6’</a:t>
            </a:r>
            <a:r>
              <a:rPr lang="zh-CN" altLang="en-US" dirty="0"/>
              <a:t>的显示码；</a:t>
            </a:r>
            <a:endParaRPr lang="en-US" altLang="zh-CN" dirty="0"/>
          </a:p>
          <a:p>
            <a:pPr marL="1529080" lvl="3" indent="-271780" eaLnBrk="1" hangingPunct="1"/>
            <a:r>
              <a:rPr lang="en-US" altLang="zh-CN" dirty="0"/>
              <a:t>4ms</a:t>
            </a:r>
            <a:r>
              <a:rPr lang="zh-CN" altLang="en-US" dirty="0"/>
              <a:t>后，</a:t>
            </a:r>
            <a:r>
              <a:rPr lang="en-US" altLang="zh-CN" dirty="0"/>
              <a:t>AN[3:0]=1101</a:t>
            </a:r>
            <a:r>
              <a:rPr lang="zh-CN" altLang="en-US" dirty="0"/>
              <a:t>，</a:t>
            </a:r>
            <a:r>
              <a:rPr lang="en-US" altLang="zh-CN" dirty="0" err="1"/>
              <a:t>seg</a:t>
            </a:r>
            <a:r>
              <a:rPr lang="en-US" altLang="zh-CN" dirty="0"/>
              <a:t>=‘7’</a:t>
            </a:r>
            <a:r>
              <a:rPr lang="zh-CN" altLang="en-US" dirty="0"/>
              <a:t>的显示码；</a:t>
            </a:r>
            <a:endParaRPr lang="en-US" altLang="zh-CN" dirty="0"/>
          </a:p>
          <a:p>
            <a:pPr marL="1529080" lvl="3" indent="-271780" eaLnBrk="1" hangingPunct="1"/>
            <a:r>
              <a:rPr lang="en-US" altLang="zh-CN" dirty="0"/>
              <a:t>4ms</a:t>
            </a:r>
            <a:r>
              <a:rPr lang="zh-CN" altLang="en-US" dirty="0"/>
              <a:t>后，</a:t>
            </a:r>
            <a:r>
              <a:rPr lang="en-US" altLang="zh-CN" dirty="0"/>
              <a:t>AN[3:0]=1110</a:t>
            </a:r>
            <a:r>
              <a:rPr lang="zh-CN" altLang="en-US" dirty="0"/>
              <a:t>，</a:t>
            </a:r>
            <a:r>
              <a:rPr lang="en-US" altLang="zh-CN" dirty="0" err="1"/>
              <a:t>seg</a:t>
            </a:r>
            <a:r>
              <a:rPr lang="en-US" altLang="zh-CN" dirty="0"/>
              <a:t>=‘8’</a:t>
            </a:r>
            <a:r>
              <a:rPr lang="zh-CN" altLang="en-US" dirty="0"/>
              <a:t>的显示码；</a:t>
            </a:r>
            <a:endParaRPr lang="en-US" altLang="zh-CN" dirty="0"/>
          </a:p>
          <a:p>
            <a:pPr marL="1529080" lvl="3" indent="-271780" eaLnBrk="1" hangingPunct="1"/>
            <a:endParaRPr lang="en-US" altLang="zh-CN" dirty="0"/>
          </a:p>
          <a:p>
            <a:pPr marL="1529080" lvl="3" indent="-271780" eaLnBrk="1" hangingPunct="1"/>
            <a:endParaRPr lang="en-US" altLang="zh-CN" dirty="0"/>
          </a:p>
          <a:p>
            <a:pPr marL="1333500" lvl="2" indent="-533400" eaLnBrk="1" hangingPunct="1"/>
            <a:endParaRPr lang="en-US" altLang="zh-CN" dirty="0"/>
          </a:p>
        </p:txBody>
      </p:sp>
      <p:sp>
        <p:nvSpPr>
          <p:cNvPr id="2" name="Rectangle 8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6" name="椭圆形标注 5"/>
          <p:cNvSpPr/>
          <p:nvPr/>
        </p:nvSpPr>
        <p:spPr bwMode="auto">
          <a:xfrm>
            <a:off x="6444208" y="980728"/>
            <a:ext cx="2592288" cy="1296144"/>
          </a:xfrm>
          <a:prstGeom prst="wedgeEllipseCallout">
            <a:avLst>
              <a:gd name="adj1" fmla="val -75847"/>
              <a:gd name="adj2" fmla="val 63445"/>
            </a:avLst>
          </a:prstGeom>
          <a:solidFill>
            <a:srgbClr val="FFCC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algn="l"/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需要的硬件引线（</a:t>
            </a: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I/O</a:t>
            </a: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口）少；但软件控制复杂；</a:t>
            </a:r>
            <a:endParaRPr kumimoji="0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4573898-8EB6-4403-ACA5-B2F4921C3150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2C38527-A6CE-4E69-B716-C23953A2CC39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4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68313" y="1125414"/>
                <a:ext cx="8229600" cy="3599730"/>
              </a:xfrm>
            </p:spPr>
            <p:txBody>
              <a:bodyPr/>
              <a:lstStyle/>
              <a:p>
                <a:pPr marL="533400" indent="-533400" eaLnBrk="1" hangingPunct="1"/>
                <a:r>
                  <a:rPr lang="en-US" altLang="zh-CN" dirty="0"/>
                  <a:t>3</a:t>
                </a:r>
                <a:r>
                  <a:rPr lang="zh-CN" altLang="en-US" dirty="0"/>
                  <a:t>、实验要求 </a:t>
                </a:r>
                <a:endParaRPr lang="zh-CN" altLang="en-US" dirty="0"/>
              </a:p>
              <a:p>
                <a:pPr marL="914400" lvl="1" indent="-457200" eaLnBrk="1" hangingPunct="1"/>
                <a:r>
                  <a:rPr lang="zh-CN" altLang="zh-CN" dirty="0"/>
                  <a:t>实现</a:t>
                </a:r>
                <a:r>
                  <a:rPr lang="zh-CN" altLang="en-US" dirty="0"/>
                  <a:t>在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个数码管上，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自动递增显示十进制数字</a:t>
                </a:r>
                <a:r>
                  <a:rPr lang="en-US" altLang="zh-CN" dirty="0"/>
                  <a:t>0000~9999</a:t>
                </a:r>
                <a:r>
                  <a:rPr lang="zh-CN" altLang="zh-CN" dirty="0"/>
                  <a:t>，速度以每秒</a:t>
                </a:r>
                <a:r>
                  <a:rPr lang="en-US" altLang="zh-CN" dirty="0"/>
                  <a:t>3~10</a:t>
                </a:r>
                <a:r>
                  <a:rPr lang="zh-CN" altLang="zh-CN" dirty="0"/>
                  <a:t>个数值为宜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914400" lvl="1" indent="-457200" eaLnBrk="1" hangingPunct="1"/>
                <a:r>
                  <a:rPr lang="zh-CN" altLang="en-US" dirty="0">
                    <a:solidFill>
                      <a:srgbClr val="0000FF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1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）顶层模块：</a:t>
                </a:r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986155" lvl="2" indent="-357505" eaLnBrk="1" hangingPunct="1"/>
                <a:r>
                  <a:rPr lang="en-US" altLang="zh-CN" dirty="0"/>
                  <a:t>Start/Stop</a:t>
                </a:r>
                <a:r>
                  <a:rPr lang="zh-CN" altLang="en-US" dirty="0"/>
                  <a:t>：</a:t>
                </a:r>
                <a:r>
                  <a:rPr lang="zh-CN" altLang="zh-CN" dirty="0"/>
                  <a:t>自动递增的使能信号</a:t>
                </a:r>
                <a:endParaRPr lang="en-US" altLang="zh-CN" dirty="0"/>
              </a:p>
              <a:p>
                <a:pPr marL="1771650" lvl="3" indent="-457200" eaLnBrk="1" hangingPunct="1"/>
                <a:r>
                  <a:rPr lang="en-US" altLang="zh-CN" dirty="0"/>
                  <a:t>=1</a:t>
                </a:r>
                <a:r>
                  <a:rPr lang="zh-CN" altLang="zh-CN" dirty="0"/>
                  <a:t>，则自动递增加</a:t>
                </a:r>
                <a:r>
                  <a:rPr lang="en-US" altLang="zh-CN" dirty="0"/>
                  <a:t>1</a:t>
                </a:r>
                <a:r>
                  <a:rPr lang="zh-CN" altLang="zh-CN" dirty="0"/>
                  <a:t>显示，</a:t>
                </a:r>
                <a:r>
                  <a:rPr lang="en-US" altLang="zh-CN" dirty="0"/>
                  <a:t>=0</a:t>
                </a:r>
                <a:r>
                  <a:rPr lang="zh-CN" altLang="zh-CN" dirty="0"/>
                  <a:t>，则停止自动递增</a:t>
                </a:r>
                <a:endParaRPr lang="en-US" altLang="zh-CN" dirty="0"/>
              </a:p>
              <a:p>
                <a:pPr marL="986155" lvl="2" indent="-357505" eaLnBrk="1" hangingPunct="1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𝒄𝒍𝒓</m:t>
                        </m:r>
                      </m:e>
                    </m:acc>
                  </m:oMath>
                </a14:m>
                <a:r>
                  <a:rPr lang="en-US" altLang="zh-CN" dirty="0" err="1"/>
                  <a:t>是清零信号</a:t>
                </a:r>
                <a:r>
                  <a:rPr lang="en-US" altLang="zh-CN" dirty="0"/>
                  <a:t>， =0，则数码管显示0000</a:t>
                </a:r>
                <a:endParaRPr lang="en-US" altLang="zh-CN" dirty="0"/>
              </a:p>
              <a:p>
                <a:pPr marL="986155" lvl="2" indent="-357505" eaLnBrk="1" hangingPunct="1"/>
                <a:r>
                  <a:rPr lang="en-US" altLang="zh-CN" dirty="0" err="1"/>
                  <a:t>clk</a:t>
                </a:r>
                <a:r>
                  <a:rPr lang="zh-CN" altLang="en-US" dirty="0"/>
                  <a:t>：接</a:t>
                </a:r>
                <a:r>
                  <a:rPr lang="zh-CN" altLang="zh-CN" dirty="0"/>
                  <a:t>系统</a:t>
                </a:r>
                <a:r>
                  <a:rPr lang="en-US" altLang="zh-CN" dirty="0"/>
                  <a:t>100MHz</a:t>
                </a:r>
                <a:r>
                  <a:rPr lang="zh-CN" altLang="zh-CN" dirty="0"/>
                  <a:t>时钟源</a:t>
                </a:r>
                <a:r>
                  <a:rPr lang="en-US" altLang="zh-CN" dirty="0"/>
                  <a:t>(10ns)</a:t>
                </a:r>
                <a:r>
                  <a:rPr lang="zh-CN" altLang="en-US" dirty="0"/>
                  <a:t>，作为延时的时基</a:t>
                </a:r>
                <a:endParaRPr lang="zh-CN" altLang="en-US" dirty="0"/>
              </a:p>
            </p:txBody>
          </p:sp>
        </mc:Choice>
        <mc:Fallback>
          <p:sp>
            <p:nvSpPr>
              <p:cNvPr id="17414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68313" y="1125414"/>
                <a:ext cx="8229600" cy="3599730"/>
              </a:xfrm>
              <a:blipFill rotWithShape="1">
                <a:blip r:embed="rId1"/>
                <a:stretch>
                  <a:fillRect l="-4" t="-5" r="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508059" y="4725144"/>
          <a:ext cx="6127881" cy="1656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16" name="Visio" r:id="rId2" imgW="2564130" imgH="699135" progId="Visio.Drawing.11">
                  <p:embed/>
                </p:oleObj>
              </mc:Choice>
              <mc:Fallback>
                <p:oleObj name="Visio" r:id="rId2" imgW="2564130" imgH="699135" progId="Visio.Drawing.11">
                  <p:embed/>
                  <p:pic>
                    <p:nvPicPr>
                      <p:cNvPr id="0" name="图片 594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059" y="4725144"/>
                        <a:ext cx="6127881" cy="1656184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4573898-8EB6-4403-ACA5-B2F4921C3150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2C38527-A6CE-4E69-B716-C23953A2CC39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414"/>
            <a:ext cx="8229600" cy="2375594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3</a:t>
            </a:r>
            <a:r>
              <a:rPr lang="zh-CN" altLang="en-US" dirty="0"/>
              <a:t>、实验要求 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）顶层模块：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r>
              <a:rPr lang="zh-CN" altLang="en-US" dirty="0">
                <a:solidFill>
                  <a:srgbClr val="0000FF"/>
                </a:solidFill>
              </a:rPr>
              <a:t>控制数字清零、自增（</a:t>
            </a:r>
            <a:r>
              <a:rPr lang="en-US" altLang="zh-CN" dirty="0">
                <a:solidFill>
                  <a:srgbClr val="0000FF"/>
                </a:solidFill>
              </a:rPr>
              <a:t>0000</a:t>
            </a:r>
            <a:r>
              <a:rPr lang="zh-CN" altLang="en-US" dirty="0">
                <a:solidFill>
                  <a:srgbClr val="0000FF"/>
                </a:solidFill>
              </a:rPr>
              <a:t>→</a:t>
            </a:r>
            <a:r>
              <a:rPr lang="en-US" altLang="zh-CN" dirty="0">
                <a:solidFill>
                  <a:srgbClr val="0000FF"/>
                </a:solidFill>
              </a:rPr>
              <a:t>9999</a:t>
            </a:r>
            <a:r>
              <a:rPr lang="zh-CN" altLang="en-US" dirty="0">
                <a:solidFill>
                  <a:srgbClr val="0000FF"/>
                </a:solidFill>
              </a:rPr>
              <a:t>）、停止自增。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r>
              <a:rPr lang="zh-CN" altLang="en-US" dirty="0">
                <a:solidFill>
                  <a:srgbClr val="0000FF"/>
                </a:solidFill>
              </a:rPr>
              <a:t>数字</a:t>
            </a:r>
            <a:r>
              <a:rPr lang="en-US" altLang="zh-CN" dirty="0">
                <a:solidFill>
                  <a:srgbClr val="0000FF"/>
                </a:solidFill>
              </a:rPr>
              <a:t>Data[13:0]</a:t>
            </a:r>
            <a:r>
              <a:rPr lang="zh-CN" altLang="en-US" dirty="0">
                <a:solidFill>
                  <a:srgbClr val="0000FF"/>
                </a:solidFill>
              </a:rPr>
              <a:t>送给下一层模块。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r>
              <a:rPr lang="zh-CN" altLang="en-US" dirty="0">
                <a:solidFill>
                  <a:srgbClr val="0000FF"/>
                </a:solidFill>
              </a:rPr>
              <a:t>可以用分频来控制自增的速度。譬如</a:t>
            </a:r>
            <a:r>
              <a:rPr lang="en-US" altLang="zh-CN" dirty="0">
                <a:solidFill>
                  <a:srgbClr val="0000FF"/>
                </a:solidFill>
              </a:rPr>
              <a:t>3~4Hz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069" y="3573016"/>
            <a:ext cx="6336704" cy="2433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4573898-8EB6-4403-ACA5-B2F4921C3150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2C38527-A6CE-4E69-B716-C23953A2CC39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414"/>
            <a:ext cx="8229600" cy="2303586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3</a:t>
            </a:r>
            <a:r>
              <a:rPr lang="zh-CN" altLang="en-US" dirty="0"/>
              <a:t>、实验要求 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）数码管显示模块（模块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）：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r>
              <a:rPr lang="zh-CN" altLang="en-US" dirty="0">
                <a:solidFill>
                  <a:srgbClr val="0000FF"/>
                </a:solidFill>
              </a:rPr>
              <a:t>稳定显示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个数字，由</a:t>
            </a:r>
            <a:r>
              <a:rPr lang="en-US" altLang="zh-CN" dirty="0">
                <a:solidFill>
                  <a:srgbClr val="0000FF"/>
                </a:solidFill>
              </a:rPr>
              <a:t>Data[15:0]</a:t>
            </a:r>
            <a:r>
              <a:rPr lang="zh-CN" altLang="en-US" dirty="0">
                <a:solidFill>
                  <a:srgbClr val="0000FF"/>
                </a:solidFill>
              </a:rPr>
              <a:t>指出；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r>
              <a:rPr lang="zh-CN" altLang="en-US" dirty="0">
                <a:solidFill>
                  <a:srgbClr val="0000FF"/>
                </a:solidFill>
              </a:rPr>
              <a:t>动态扫描的频率，也需要分频，譬如</a:t>
            </a:r>
            <a:r>
              <a:rPr lang="en-US" altLang="zh-CN" dirty="0">
                <a:solidFill>
                  <a:srgbClr val="0000FF"/>
                </a:solidFill>
              </a:rPr>
              <a:t>250Hz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4ms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317" y="3212976"/>
            <a:ext cx="6156228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221088"/>
            <a:ext cx="4904853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4573898-8EB6-4403-ACA5-B2F4921C3150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2C38527-A6CE-4E69-B716-C23953A2CC39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414"/>
            <a:ext cx="8229600" cy="2807642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3</a:t>
            </a:r>
            <a:r>
              <a:rPr lang="zh-CN" altLang="en-US" dirty="0"/>
              <a:t>、实验要求 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）数码管显示模块（模块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）：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r>
              <a:rPr lang="zh-CN" altLang="en-US" dirty="0">
                <a:solidFill>
                  <a:srgbClr val="0000FF"/>
                </a:solidFill>
              </a:rPr>
              <a:t>稳定显示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zh-CN" altLang="en-US" dirty="0">
                <a:solidFill>
                  <a:srgbClr val="0000FF"/>
                </a:solidFill>
              </a:rPr>
              <a:t>个数字，由</a:t>
            </a:r>
            <a:r>
              <a:rPr lang="en-US" altLang="zh-CN" dirty="0">
                <a:solidFill>
                  <a:srgbClr val="0000FF"/>
                </a:solidFill>
              </a:rPr>
              <a:t>Data[15:0]</a:t>
            </a:r>
            <a:r>
              <a:rPr lang="zh-CN" altLang="en-US" dirty="0">
                <a:solidFill>
                  <a:srgbClr val="0000FF"/>
                </a:solidFill>
              </a:rPr>
              <a:t>指出；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r>
              <a:rPr lang="zh-CN" altLang="en-US" dirty="0">
                <a:solidFill>
                  <a:srgbClr val="0000FF"/>
                </a:solidFill>
              </a:rPr>
              <a:t>动态扫描的频率，也需要分频，譬如</a:t>
            </a:r>
            <a:r>
              <a:rPr lang="en-US" altLang="zh-CN" dirty="0">
                <a:solidFill>
                  <a:srgbClr val="0000FF"/>
                </a:solidFill>
              </a:rPr>
              <a:t>250Hz</a:t>
            </a: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4ms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r>
              <a:rPr lang="zh-CN" altLang="en-US" dirty="0">
                <a:solidFill>
                  <a:srgbClr val="0000FF"/>
                </a:solidFill>
              </a:rPr>
              <a:t>可以再构造一个模块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，用于单独指定某个数码管显示某个数字。也可以放在模块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中。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3" y="4077072"/>
            <a:ext cx="4904853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4573898-8EB6-4403-ACA5-B2F4921C3150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2C38527-A6CE-4E69-B716-C23953A2CC39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实验</a:t>
            </a:r>
            <a:r>
              <a:rPr lang="en-US" altLang="zh-CN" b="1" dirty="0"/>
              <a:t>18</a:t>
            </a:r>
            <a:r>
              <a:rPr lang="zh-CN" altLang="en-US" b="1" dirty="0"/>
              <a:t> 数码管扫描显示</a:t>
            </a:r>
            <a:endParaRPr lang="zh-CN" altLang="en-US" b="1" dirty="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414"/>
            <a:ext cx="8229600" cy="3887762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3</a:t>
            </a:r>
            <a:r>
              <a:rPr lang="zh-CN" altLang="en-US" dirty="0"/>
              <a:t>、实验要求 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）分频的实现</a:t>
            </a:r>
            <a:endParaRPr lang="en-US" altLang="zh-CN" dirty="0">
              <a:solidFill>
                <a:srgbClr val="0000FF"/>
              </a:solidFill>
            </a:endParaRPr>
          </a:p>
          <a:p>
            <a:pPr marL="1314450" lvl="2" indent="-457200" eaLnBrk="1" hangingPunct="1"/>
            <a:r>
              <a:rPr lang="zh-CN" altLang="en-US" dirty="0"/>
              <a:t>分频器的</a:t>
            </a:r>
            <a:r>
              <a:rPr lang="zh-CN" altLang="zh-CN" dirty="0"/>
              <a:t>核心元件是一个计数器</a:t>
            </a:r>
            <a:r>
              <a:rPr lang="zh-CN" altLang="en-US" dirty="0"/>
              <a:t>；</a:t>
            </a:r>
            <a:endParaRPr lang="en-US" altLang="zh-CN" dirty="0"/>
          </a:p>
          <a:p>
            <a:pPr marL="1314450" lvl="2" indent="-457200" eaLnBrk="1" hangingPunct="1"/>
            <a:r>
              <a:rPr lang="zh-CN" altLang="en-US" dirty="0"/>
              <a:t>时钟源：</a:t>
            </a:r>
            <a:r>
              <a:rPr lang="en-US" altLang="zh-CN" dirty="0"/>
              <a:t>100MHz</a:t>
            </a:r>
            <a:r>
              <a:rPr lang="zh-CN" altLang="en-US" dirty="0"/>
              <a:t>的系统时钟；</a:t>
            </a:r>
            <a:endParaRPr lang="en-US" altLang="zh-CN" dirty="0"/>
          </a:p>
          <a:p>
            <a:pPr marL="1314450" lvl="2" indent="-457200" eaLnBrk="1" hangingPunct="1"/>
            <a:r>
              <a:rPr lang="zh-CN" altLang="en-US" dirty="0"/>
              <a:t>分频方法：</a:t>
            </a:r>
            <a:r>
              <a:rPr lang="zh-CN" altLang="zh-CN" dirty="0"/>
              <a:t>计数来完成分频。</a:t>
            </a:r>
            <a:endParaRPr lang="en-US" altLang="zh-CN" dirty="0"/>
          </a:p>
          <a:p>
            <a:pPr marL="1314450" lvl="2" indent="-457200" eaLnBrk="1" hangingPunct="1"/>
            <a:r>
              <a:rPr lang="zh-CN" altLang="zh-CN" dirty="0"/>
              <a:t>分频的倍数</a:t>
            </a:r>
            <a:r>
              <a:rPr lang="zh-CN" altLang="en-US" dirty="0"/>
              <a:t>：决定</a:t>
            </a:r>
            <a:r>
              <a:rPr lang="zh-CN" altLang="zh-CN" dirty="0"/>
              <a:t>计数器的位数</a:t>
            </a:r>
            <a:endParaRPr lang="en-US" altLang="zh-CN" dirty="0"/>
          </a:p>
          <a:p>
            <a:pPr marL="1771650" lvl="3" indent="-457200" eaLnBrk="1" hangingPunct="1"/>
            <a:r>
              <a:rPr lang="zh-CN" altLang="en-US" dirty="0"/>
              <a:t>例：</a:t>
            </a:r>
            <a:r>
              <a:rPr lang="zh-CN" altLang="zh-CN" dirty="0"/>
              <a:t>将</a:t>
            </a:r>
            <a:r>
              <a:rPr lang="en-US" altLang="zh-CN" dirty="0"/>
              <a:t>1MHz</a:t>
            </a:r>
            <a:r>
              <a:rPr lang="zh-CN" altLang="zh-CN" dirty="0"/>
              <a:t>的信号源分频为</a:t>
            </a:r>
            <a:r>
              <a:rPr lang="en-US" altLang="zh-CN" dirty="0"/>
              <a:t>1KHz</a:t>
            </a:r>
            <a:r>
              <a:rPr lang="zh-CN" altLang="zh-CN" dirty="0"/>
              <a:t>，则分频系数</a:t>
            </a:r>
            <a:r>
              <a:rPr lang="en-US" altLang="zh-CN" dirty="0"/>
              <a:t>n</a:t>
            </a:r>
            <a:r>
              <a:rPr lang="zh-CN" altLang="zh-CN" dirty="0"/>
              <a:t>为</a:t>
            </a:r>
            <a:r>
              <a:rPr lang="en-US" altLang="zh-CN" dirty="0"/>
              <a:t>1M</a:t>
            </a:r>
            <a:r>
              <a:rPr lang="zh-CN" altLang="zh-CN" dirty="0"/>
              <a:t>÷</a:t>
            </a:r>
            <a:r>
              <a:rPr lang="en-US" altLang="zh-CN" dirty="0"/>
              <a:t>1K=1000</a:t>
            </a:r>
            <a:r>
              <a:rPr lang="zh-CN" altLang="zh-CN" dirty="0"/>
              <a:t>，为产生方波，计数值为</a:t>
            </a:r>
            <a:r>
              <a:rPr lang="en-US" altLang="zh-CN" dirty="0"/>
              <a:t>500</a:t>
            </a:r>
            <a:r>
              <a:rPr lang="zh-CN" altLang="zh-CN" dirty="0"/>
              <a:t>，所以计数器为</a:t>
            </a:r>
            <a:r>
              <a:rPr lang="en-US" altLang="zh-CN" dirty="0"/>
              <a:t>9</a:t>
            </a:r>
            <a:r>
              <a:rPr lang="zh-CN" altLang="zh-CN" dirty="0"/>
              <a:t>位。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11960" y="4509120"/>
          <a:ext cx="4521823" cy="2016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4" name="Visio" r:id="rId1" imgW="2679700" imgH="1206500" progId="Visio.Drawing.11">
                  <p:embed/>
                </p:oleObj>
              </mc:Choice>
              <mc:Fallback>
                <p:oleObj name="Visio" r:id="rId1" imgW="2679700" imgH="120650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960" y="4509120"/>
                        <a:ext cx="4521823" cy="2016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4573898-8EB6-4403-ACA5-B2F4921C3150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2C38527-A6CE-4E69-B716-C23953A2CC39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25414"/>
            <a:ext cx="8229600" cy="1223466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3</a:t>
            </a:r>
            <a:r>
              <a:rPr lang="zh-CN" altLang="en-US" dirty="0"/>
              <a:t>、实验要求 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）分频的实现：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268760"/>
            <a:ext cx="4755238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4573898-8EB6-4403-ACA5-B2F4921C3150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2C38527-A6CE-4E69-B716-C23953A2CC39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7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5111750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3</a:t>
            </a:r>
            <a:r>
              <a:rPr lang="zh-CN" altLang="en-US" dirty="0"/>
              <a:t>、实验要求 </a:t>
            </a:r>
            <a:endParaRPr lang="zh-CN" altLang="en-US" dirty="0"/>
          </a:p>
          <a:p>
            <a:pPr marL="914400" lvl="1" indent="-457200" eaLnBrk="1" hangingPunct="1"/>
            <a:r>
              <a:rPr lang="zh-CN" altLang="zh-CN" dirty="0"/>
              <a:t>实现自动递增显示十进制数字</a:t>
            </a:r>
            <a:r>
              <a:rPr lang="en-US" altLang="zh-CN" dirty="0"/>
              <a:t>0000~9999</a:t>
            </a:r>
            <a:r>
              <a:rPr lang="zh-CN" altLang="zh-CN" dirty="0"/>
              <a:t>，速度以每秒</a:t>
            </a:r>
            <a:r>
              <a:rPr lang="en-US" altLang="zh-CN" dirty="0"/>
              <a:t>5~10</a:t>
            </a:r>
            <a:r>
              <a:rPr lang="zh-CN" altLang="zh-CN" dirty="0"/>
              <a:t>个数值为宜</a:t>
            </a:r>
            <a:endParaRPr lang="zh-CN" altLang="en-US" sz="2800" dirty="0"/>
          </a:p>
          <a:p>
            <a:pPr marL="914400" lvl="1" indent="-457200" eaLnBrk="1" hangingPunct="1"/>
            <a:r>
              <a:rPr lang="zh-CN" altLang="en-US" dirty="0">
                <a:solidFill>
                  <a:srgbClr val="FF0000"/>
                </a:solidFill>
              </a:rPr>
              <a:t>课前任务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chemeClr val="folHlink"/>
                </a:solidFill>
              </a:rPr>
              <a:t>编程、仿真、验证</a:t>
            </a:r>
            <a:r>
              <a:rPr lang="zh-CN" altLang="en-US" dirty="0"/>
              <a:t>，确保逻辑正确性；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>
                <a:solidFill>
                  <a:srgbClr val="FF0000"/>
                </a:solidFill>
              </a:rPr>
              <a:t>实验室任务</a:t>
            </a:r>
            <a:r>
              <a:rPr lang="zh-CN" altLang="en-US" dirty="0"/>
              <a:t>：</a:t>
            </a:r>
            <a:endParaRPr lang="en-US" altLang="zh-CN" dirty="0"/>
          </a:p>
          <a:p>
            <a:pPr marL="1314450" lvl="2" indent="-457200" eaLnBrk="1" hangingPunct="1"/>
            <a:r>
              <a:rPr lang="zh-CN" altLang="en-US" dirty="0"/>
              <a:t>逐个测试各模块：模块</a:t>
            </a:r>
            <a:r>
              <a:rPr lang="en-US" altLang="zh-CN" dirty="0"/>
              <a:t>3</a:t>
            </a:r>
            <a:r>
              <a:rPr lang="zh-CN" altLang="en-US" dirty="0"/>
              <a:t>→模块</a:t>
            </a:r>
            <a:r>
              <a:rPr lang="en-US" altLang="zh-CN" dirty="0"/>
              <a:t>2</a:t>
            </a:r>
            <a:r>
              <a:rPr lang="zh-CN" altLang="en-US" dirty="0"/>
              <a:t> →顶层模块</a:t>
            </a:r>
            <a:endParaRPr lang="zh-CN" altLang="en-US" dirty="0"/>
          </a:p>
          <a:p>
            <a:pPr marL="1371600" lvl="2" indent="-457200" eaLnBrk="1" hangingPunct="1"/>
            <a:r>
              <a:rPr lang="zh-CN" altLang="en-US" dirty="0">
                <a:solidFill>
                  <a:schemeClr val="folHlink"/>
                </a:solidFill>
              </a:rPr>
              <a:t>配置管脚；</a:t>
            </a:r>
            <a:endParaRPr lang="zh-CN" altLang="en-US" dirty="0"/>
          </a:p>
          <a:p>
            <a:pPr marL="1371600" lvl="2" indent="-457200" eaLnBrk="1" hangingPunct="1">
              <a:defRPr/>
            </a:pPr>
            <a:r>
              <a:rPr lang="zh-CN" altLang="en-US" dirty="0">
                <a:solidFill>
                  <a:schemeClr val="folHlink"/>
                </a:solidFill>
              </a:rPr>
              <a:t>生成*</a:t>
            </a:r>
            <a:r>
              <a:rPr lang="en-US" altLang="zh-CN" dirty="0">
                <a:solidFill>
                  <a:schemeClr val="folHlink"/>
                </a:solidFill>
              </a:rPr>
              <a:t>.bit</a:t>
            </a:r>
            <a:r>
              <a:rPr lang="zh-CN" altLang="en-US" dirty="0">
                <a:solidFill>
                  <a:schemeClr val="folHlink"/>
                </a:solidFill>
              </a:rPr>
              <a:t>文件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，通过远程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FPGA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实验平台，</a:t>
            </a:r>
            <a:r>
              <a:rPr lang="zh-CN" altLang="en-US" dirty="0">
                <a:solidFill>
                  <a:schemeClr val="folHlink"/>
                </a:solidFill>
              </a:rPr>
              <a:t>下载</a:t>
            </a:r>
            <a:r>
              <a:rPr lang="zh-CN" altLang="en-US" dirty="0"/>
              <a:t>到</a:t>
            </a:r>
            <a:r>
              <a:rPr lang="en-US" altLang="zh-CN" dirty="0"/>
              <a:t>HDU-XL-01</a:t>
            </a:r>
            <a:r>
              <a:rPr lang="zh-CN" altLang="en-US" dirty="0"/>
              <a:t>教学开发板中。</a:t>
            </a:r>
            <a:endParaRPr lang="zh-CN" altLang="en-US" dirty="0"/>
          </a:p>
          <a:p>
            <a:pPr marL="1371600" lvl="2" indent="-457200" eaLnBrk="1" hangingPunct="1"/>
            <a:r>
              <a:rPr lang="zh-CN" altLang="en-US" dirty="0">
                <a:solidFill>
                  <a:schemeClr val="folHlink"/>
                </a:solidFill>
              </a:rPr>
              <a:t>完成板级验证</a:t>
            </a:r>
            <a:r>
              <a:rPr lang="zh-CN" altLang="en-US" dirty="0"/>
              <a:t>。</a:t>
            </a:r>
            <a:endParaRPr lang="zh-CN" altLang="en-US" dirty="0"/>
          </a:p>
          <a:p>
            <a:pPr marL="914400" lvl="1" indent="-457200"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4FAEAF02-05EF-4D75-9030-88D01EB172B4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30A2D3D-EA0C-44CA-96A5-E40936B788FF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5" y="947312"/>
            <a:ext cx="8857108" cy="5111750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4</a:t>
            </a:r>
            <a:r>
              <a:rPr lang="zh-CN" altLang="en-US" dirty="0"/>
              <a:t>、实验步骤 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/>
              <a:t>使用合适的建模方法和语句进行</a:t>
            </a:r>
            <a:r>
              <a:rPr lang="zh-CN" altLang="en-US" dirty="0">
                <a:solidFill>
                  <a:srgbClr val="FF0000"/>
                </a:solidFill>
              </a:rPr>
              <a:t>编程、仿真</a:t>
            </a:r>
            <a:r>
              <a:rPr lang="zh-CN" altLang="en-US" dirty="0"/>
              <a:t>；</a:t>
            </a:r>
            <a:endParaRPr lang="zh-CN" altLang="en-US" dirty="0"/>
          </a:p>
          <a:p>
            <a:pPr marL="914400" lvl="1" indent="-457200" eaLnBrk="1" hangingPunct="1"/>
            <a:r>
              <a:rPr lang="zh-CN" altLang="zh-CN" dirty="0"/>
              <a:t>在线使用</a:t>
            </a:r>
            <a:r>
              <a:rPr lang="zh-CN" altLang="zh-CN" dirty="0">
                <a:solidFill>
                  <a:srgbClr val="FF0000"/>
                </a:solidFill>
              </a:rPr>
              <a:t>远程</a:t>
            </a:r>
            <a:r>
              <a:rPr lang="en-US" altLang="zh-CN" dirty="0">
                <a:solidFill>
                  <a:srgbClr val="FF0000"/>
                </a:solidFill>
              </a:rPr>
              <a:t>HDU-XL-01</a:t>
            </a:r>
            <a:r>
              <a:rPr lang="zh-CN" altLang="en-US" dirty="0">
                <a:solidFill>
                  <a:srgbClr val="FF0000"/>
                </a:solidFill>
              </a:rPr>
              <a:t>教学开发板</a:t>
            </a:r>
            <a:r>
              <a:rPr lang="zh-CN" altLang="zh-CN" dirty="0"/>
              <a:t>调试程序：</a:t>
            </a:r>
            <a:endParaRPr lang="zh-CN" altLang="zh-CN" dirty="0"/>
          </a:p>
          <a:p>
            <a:pPr marL="1314450" lvl="2" indent="-457200" eaLnBrk="1" hangingPunct="1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zh-CN" dirty="0"/>
              <a:t>登录远程</a:t>
            </a:r>
            <a:r>
              <a:rPr lang="en-US" altLang="zh-CN" dirty="0"/>
              <a:t>FPGA</a:t>
            </a:r>
            <a:r>
              <a:rPr lang="zh-CN" altLang="zh-CN" dirty="0"/>
              <a:t>实验平台，申请使用账号；</a:t>
            </a:r>
            <a:endParaRPr lang="zh-CN" altLang="zh-CN" dirty="0"/>
          </a:p>
          <a:p>
            <a:pPr marL="1314450" lvl="2" indent="-457200" eaLnBrk="1" hangingPunct="1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zh-CN" dirty="0"/>
              <a:t>申请远程</a:t>
            </a:r>
            <a:r>
              <a:rPr lang="en-US" altLang="zh-CN" dirty="0"/>
              <a:t>FPGA</a:t>
            </a:r>
            <a:r>
              <a:rPr lang="zh-CN" altLang="zh-CN" dirty="0"/>
              <a:t>实验，申请成功后，将本地的</a:t>
            </a:r>
            <a:r>
              <a:rPr lang="en-US" altLang="zh-CN" dirty="0"/>
              <a:t>*.bit</a:t>
            </a:r>
            <a:r>
              <a:rPr lang="zh-CN" altLang="zh-CN" dirty="0"/>
              <a:t>文件远程下载到</a:t>
            </a:r>
            <a:r>
              <a:rPr lang="en-US" altLang="zh-CN" dirty="0"/>
              <a:t>HDU-XL-01</a:t>
            </a:r>
            <a:r>
              <a:rPr lang="zh-CN" altLang="en-US" dirty="0"/>
              <a:t>教学开发板</a:t>
            </a:r>
            <a:r>
              <a:rPr lang="zh-CN" altLang="zh-CN" dirty="0"/>
              <a:t>上的</a:t>
            </a:r>
            <a:r>
              <a:rPr lang="en-US" altLang="zh-CN" dirty="0"/>
              <a:t>FPGA</a:t>
            </a:r>
            <a:r>
              <a:rPr lang="zh-CN" altLang="zh-CN" dirty="0"/>
              <a:t>中；</a:t>
            </a:r>
            <a:endParaRPr lang="zh-CN" altLang="zh-CN" dirty="0"/>
          </a:p>
          <a:p>
            <a:pPr marL="1314450" lvl="2" indent="-457200" eaLnBrk="1" hangingPunct="1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对于第一个实验内容要求，</a:t>
            </a:r>
            <a:r>
              <a:rPr lang="zh-CN" altLang="zh-CN" dirty="0"/>
              <a:t>通过客户端界面，在板卡上</a:t>
            </a:r>
            <a:r>
              <a:rPr lang="zh-CN" altLang="en-US" dirty="0"/>
              <a:t>拨动对应的开关，给出输入数据</a:t>
            </a:r>
            <a:r>
              <a:rPr lang="en-US" altLang="zh-CN" dirty="0"/>
              <a:t>Data[3:0]</a:t>
            </a:r>
            <a:r>
              <a:rPr lang="zh-CN" altLang="en-US" dirty="0"/>
              <a:t>和</a:t>
            </a:r>
            <a:r>
              <a:rPr lang="en-US" altLang="zh-CN" dirty="0" err="1"/>
              <a:t>Bit_Sel</a:t>
            </a:r>
            <a:r>
              <a:rPr lang="en-US" altLang="zh-CN" dirty="0"/>
              <a:t>[1:0]</a:t>
            </a:r>
            <a:r>
              <a:rPr lang="zh-CN" altLang="en-US" dirty="0"/>
              <a:t>，观察数码管显示内容是否正确。</a:t>
            </a:r>
            <a:endParaRPr lang="en-US" altLang="zh-CN" dirty="0"/>
          </a:p>
          <a:p>
            <a:pPr marL="1314450" lvl="2" indent="-457200" eaLnBrk="1" hangingPunct="1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dirty="0"/>
              <a:t>对于第二个实验内容要求，</a:t>
            </a:r>
            <a:r>
              <a:rPr lang="zh-CN" altLang="zh-CN" dirty="0"/>
              <a:t>通过客户端界面，</a:t>
            </a:r>
            <a:r>
              <a:rPr lang="zh-CN" altLang="en-US" dirty="0"/>
              <a:t>在板卡上拨动开关，产生</a:t>
            </a:r>
            <a:r>
              <a:rPr lang="en-US" altLang="zh-CN" dirty="0"/>
              <a:t>CLR#</a:t>
            </a:r>
            <a:r>
              <a:rPr lang="zh-CN" altLang="en-US" dirty="0"/>
              <a:t>和</a:t>
            </a:r>
            <a:r>
              <a:rPr lang="en-US" altLang="zh-CN" dirty="0"/>
              <a:t>Start/Stop</a:t>
            </a:r>
            <a:r>
              <a:rPr lang="zh-CN" altLang="en-US" dirty="0"/>
              <a:t>，观察数码管，验证清零、递增计数和停止计数、数码管显示是否正确。</a:t>
            </a:r>
            <a:endParaRPr lang="zh-CN" altLang="en-US" dirty="0"/>
          </a:p>
          <a:p>
            <a:pPr marL="914400" lvl="1" indent="-457200" eaLnBrk="1" hangingPunct="1"/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76CF96F-3408-4F59-9DD7-437C69D84908}" type="datetime1">
              <a:rPr lang="zh-CN" altLang="en-US" sz="1200">
                <a:solidFill>
                  <a:schemeClr val="tx1"/>
                </a:solidFill>
              </a:rPr>
            </a:fld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1946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2498EE0-F386-4FF0-96DF-FEA45926AA97}" type="slidenum">
              <a:rPr lang="ko-KR" altLang="en-US" sz="1400">
                <a:solidFill>
                  <a:schemeClr val="tx1"/>
                </a:solidFill>
                <a:ea typeface="Gulim" pitchFamily="34" charset="-127"/>
              </a:rPr>
            </a:fld>
            <a:endParaRPr lang="en-US" altLang="zh-CN" sz="1400">
              <a:solidFill>
                <a:schemeClr val="tx1"/>
              </a:solidFill>
              <a:ea typeface="Gulim" pitchFamily="34" charset="-127"/>
            </a:endParaRPr>
          </a:p>
        </p:txBody>
      </p:sp>
      <p:sp>
        <p:nvSpPr>
          <p:cNvPr id="239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ym typeface="+mn-ea"/>
              </a:rPr>
              <a:t>附加实验：数码管扫描显示</a:t>
            </a:r>
            <a:endParaRPr lang="zh-CN" altLang="en-US" b="1" dirty="0"/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29600" cy="4464050"/>
          </a:xfrm>
        </p:spPr>
        <p:txBody>
          <a:bodyPr/>
          <a:lstStyle/>
          <a:p>
            <a:pPr marL="533400" indent="-533400" eaLnBrk="1" hangingPunct="1"/>
            <a:r>
              <a:rPr lang="en-US" altLang="zh-CN" dirty="0"/>
              <a:t>5</a:t>
            </a:r>
            <a:r>
              <a:rPr lang="zh-CN" altLang="en-US" dirty="0"/>
              <a:t>、思考与探索 </a:t>
            </a:r>
            <a:endParaRPr lang="en-US" altLang="zh-CN" dirty="0"/>
          </a:p>
          <a:p>
            <a:pPr lvl="1"/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</a:t>
            </a:r>
            <a:r>
              <a:rPr lang="zh-CN" altLang="zh-CN" sz="2000" dirty="0"/>
              <a:t>在实验中，你碰到了哪些问题，又是如何解决的？如果</a:t>
            </a:r>
            <a:r>
              <a:rPr lang="zh-CN" altLang="zh-CN" sz="2000" dirty="0">
                <a:solidFill>
                  <a:srgbClr val="FF0000"/>
                </a:solidFill>
              </a:rPr>
              <a:t>感觉数字闪烁</a:t>
            </a:r>
            <a:r>
              <a:rPr lang="zh-CN" altLang="zh-CN" sz="2000" dirty="0"/>
              <a:t>，分析是什么原因？如何解决？</a:t>
            </a:r>
            <a:endParaRPr lang="zh-CN" altLang="zh-CN" sz="2000" dirty="0"/>
          </a:p>
          <a:p>
            <a:pPr lvl="1"/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</a:t>
            </a:r>
            <a:r>
              <a:rPr lang="zh-CN" altLang="zh-CN" sz="2000" dirty="0"/>
              <a:t>板级实验时，当你置开关</a:t>
            </a:r>
            <a:r>
              <a:rPr lang="en-US" altLang="zh-CN" sz="2000" dirty="0"/>
              <a:t>Start/Stop=0</a:t>
            </a:r>
            <a:r>
              <a:rPr lang="zh-CN" altLang="zh-CN" sz="2000" dirty="0"/>
              <a:t>时，观察数码管显示状态：停止计数了吗？数码管是某个点亮还是</a:t>
            </a:r>
            <a:r>
              <a:rPr lang="en-US" altLang="zh-CN" sz="2000" dirty="0"/>
              <a:t>4</a:t>
            </a:r>
            <a:r>
              <a:rPr lang="zh-CN" altLang="zh-CN" sz="2000" dirty="0"/>
              <a:t>个均点亮？当你</a:t>
            </a:r>
            <a:r>
              <a:rPr lang="en-US" altLang="zh-CN" sz="2000" dirty="0"/>
              <a:t>Start/Stop=1</a:t>
            </a:r>
            <a:r>
              <a:rPr lang="zh-CN" altLang="zh-CN" sz="2000" dirty="0"/>
              <a:t>时，计数从</a:t>
            </a:r>
            <a:r>
              <a:rPr lang="en-US" altLang="zh-CN" sz="2000" dirty="0"/>
              <a:t>0000</a:t>
            </a:r>
            <a:r>
              <a:rPr lang="zh-CN" altLang="zh-CN" sz="2000" dirty="0"/>
              <a:t>开始，还是从刚才停止的数据开始？</a:t>
            </a:r>
            <a:r>
              <a:rPr lang="zh-CN" altLang="zh-CN" sz="2000" dirty="0">
                <a:solidFill>
                  <a:srgbClr val="FF0000"/>
                </a:solidFill>
              </a:rPr>
              <a:t>假如要求停止计数时，数码管稳定显示停止时的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zh-CN" altLang="zh-CN" sz="2000" dirty="0">
                <a:solidFill>
                  <a:srgbClr val="FF0000"/>
                </a:solidFill>
              </a:rPr>
              <a:t>位计数值，再次启动计数时，又从刚才中断的计数值继续开始计数</a:t>
            </a:r>
            <a:r>
              <a:rPr lang="zh-CN" altLang="zh-CN" sz="2000" dirty="0"/>
              <a:t>，请修改你的程序，达到上述效果。</a:t>
            </a:r>
            <a:endParaRPr lang="zh-CN" altLang="zh-CN" sz="2000" dirty="0"/>
          </a:p>
          <a:p>
            <a:pPr lvl="1"/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</a:t>
            </a:r>
            <a:r>
              <a:rPr lang="zh-CN" altLang="zh-CN" sz="2000" dirty="0"/>
              <a:t>考虑设计一个通用的</a:t>
            </a:r>
            <a:r>
              <a:rPr lang="en-US" altLang="zh-CN" sz="2000" dirty="0"/>
              <a:t>8</a:t>
            </a:r>
            <a:r>
              <a:rPr lang="zh-CN" altLang="zh-CN" sz="2000" dirty="0"/>
              <a:t>位数码管显示模块，输入端口为</a:t>
            </a:r>
            <a:r>
              <a:rPr lang="en-US" altLang="zh-CN" sz="2000" dirty="0"/>
              <a:t>32</a:t>
            </a:r>
            <a:r>
              <a:rPr lang="zh-CN" altLang="zh-CN" sz="2000" dirty="0"/>
              <a:t>位的数据</a:t>
            </a:r>
            <a:r>
              <a:rPr lang="en-US" altLang="zh-CN" sz="2000" dirty="0"/>
              <a:t>Data[31:0]</a:t>
            </a:r>
            <a:r>
              <a:rPr lang="zh-CN" altLang="zh-CN" sz="2000" dirty="0"/>
              <a:t>，每</a:t>
            </a:r>
            <a:r>
              <a:rPr lang="en-US" altLang="zh-CN" sz="2000" dirty="0"/>
              <a:t>4</a:t>
            </a:r>
            <a:r>
              <a:rPr lang="zh-CN" altLang="zh-CN" sz="2000" dirty="0"/>
              <a:t>位用一个数码管显示，输出端口即为数码管的位选</a:t>
            </a:r>
            <a:r>
              <a:rPr lang="en-US" altLang="zh-CN" sz="2000" dirty="0"/>
              <a:t>AN[7:0]</a:t>
            </a:r>
            <a:r>
              <a:rPr lang="zh-CN" altLang="zh-CN" sz="2000" dirty="0"/>
              <a:t>和段选</a:t>
            </a:r>
            <a:r>
              <a:rPr lang="en-US" altLang="zh-CN" sz="2000" dirty="0" err="1"/>
              <a:t>Seg</a:t>
            </a:r>
            <a:r>
              <a:rPr lang="en-US" altLang="zh-CN" sz="2000" dirty="0"/>
              <a:t>[7:0]</a:t>
            </a:r>
            <a:r>
              <a:rPr lang="zh-CN" altLang="zh-CN" sz="2000" dirty="0"/>
              <a:t>。</a:t>
            </a:r>
            <a:endParaRPr lang="zh-CN" altLang="en-US" sz="2000" dirty="0"/>
          </a:p>
        </p:txBody>
      </p:sp>
      <p:pic>
        <p:nvPicPr>
          <p:cNvPr id="239620" name="Picture 4" descr="1">
            <a:hlinkClick r:id="rId1" action="ppaction://hlinksldjump"/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1638" y="5949950"/>
            <a:ext cx="14351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39620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008TGp_BizCom_light_4">
  <a:themeElements>
    <a:clrScheme name="">
      <a:dk1>
        <a:srgbClr val="1D528D"/>
      </a:dk1>
      <a:lt1>
        <a:srgbClr val="FFFFFF"/>
      </a:lt1>
      <a:dk2>
        <a:srgbClr val="000000"/>
      </a:dk2>
      <a:lt2>
        <a:srgbClr val="DDDDDD"/>
      </a:lt2>
      <a:accent1>
        <a:srgbClr val="2CA3C8"/>
      </a:accent1>
      <a:accent2>
        <a:srgbClr val="FF9900"/>
      </a:accent2>
      <a:accent3>
        <a:srgbClr val="FFFFFF"/>
      </a:accent3>
      <a:accent4>
        <a:srgbClr val="174578"/>
      </a:accent4>
      <a:accent5>
        <a:srgbClr val="ACCEE0"/>
      </a:accent5>
      <a:accent6>
        <a:srgbClr val="E78A00"/>
      </a:accent6>
      <a:hlink>
        <a:srgbClr val="0000FF"/>
      </a:hlink>
      <a:folHlink>
        <a:srgbClr val="00CC00"/>
      </a:folHlink>
    </a:clrScheme>
    <a:fontScheme name="008TGp_BizCom_light_4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altLang="zh-CN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008TGp_BizCom_light_4 1">
        <a:dk1>
          <a:srgbClr val="666699"/>
        </a:dk1>
        <a:lt1>
          <a:srgbClr val="FFFFFF"/>
        </a:lt1>
        <a:dk2>
          <a:srgbClr val="000000"/>
        </a:dk2>
        <a:lt2>
          <a:srgbClr val="F7F4D5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2">
        <a:dk1>
          <a:srgbClr val="29698D"/>
        </a:dk1>
        <a:lt1>
          <a:srgbClr val="FFFFFF"/>
        </a:lt1>
        <a:dk2>
          <a:srgbClr val="000000"/>
        </a:dk2>
        <a:lt2>
          <a:srgbClr val="D6E1E2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15978"/>
        </a:accent4>
        <a:accent5>
          <a:srgbClr val="B0C6C6"/>
        </a:accent5>
        <a:accent6>
          <a:srgbClr val="B9B900"/>
        </a:accent6>
        <a:hlink>
          <a:srgbClr val="33CC33"/>
        </a:hlink>
        <a:folHlink>
          <a:srgbClr val="83A6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4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00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5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FF7C8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6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3366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7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6600"/>
        </a:hlink>
        <a:folHlink>
          <a:srgbClr val="66FF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8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000000"/>
        </a:hlink>
        <a:folHlink>
          <a:srgbClr val="66FF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9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FF33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0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CC33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1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00FF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2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66FF33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3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FF66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4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CC66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5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CCCC00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08TGp_BizCom_light_4 16">
        <a:dk1>
          <a:srgbClr val="1D528D"/>
        </a:dk1>
        <a:lt1>
          <a:srgbClr val="FFFFFF"/>
        </a:lt1>
        <a:dk2>
          <a:srgbClr val="000000"/>
        </a:dk2>
        <a:lt2>
          <a:srgbClr val="DDDDDD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CCFF"/>
        </a:hlink>
        <a:folHlink>
          <a:srgbClr val="00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Designs\High Voltage.pot</Template>
  <TotalTime>0</TotalTime>
  <Words>2679</Words>
  <Application>WPS 演示</Application>
  <PresentationFormat>全屏显示(4:3)</PresentationFormat>
  <Paragraphs>301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宋体</vt:lpstr>
      <vt:lpstr>Wingdings</vt:lpstr>
      <vt:lpstr>Verdana</vt:lpstr>
      <vt:lpstr>Gulim</vt:lpstr>
      <vt:lpstr>Malgun Gothic</vt:lpstr>
      <vt:lpstr>华文中宋</vt:lpstr>
      <vt:lpstr>Arial Unicode MS</vt:lpstr>
      <vt:lpstr>Times New Roman</vt:lpstr>
      <vt:lpstr>Times New Roman</vt:lpstr>
      <vt:lpstr>Cambria Math</vt:lpstr>
      <vt:lpstr>Cambria Math</vt:lpstr>
      <vt:lpstr>微软雅黑</vt:lpstr>
      <vt:lpstr>008TGp_BizCom_light_4</vt:lpstr>
      <vt:lpstr>Visio.Drawing.11</vt:lpstr>
      <vt:lpstr>Visio.Drawing.11</vt:lpstr>
      <vt:lpstr>Visio.Drawing.11</vt:lpstr>
      <vt:lpstr>Visio.Drawing.11</vt:lpstr>
      <vt:lpstr>附加实验：数码管扫描显示</vt:lpstr>
      <vt:lpstr>附加实验：数码管扫描显示</vt:lpstr>
      <vt:lpstr>附加实验：数码管扫描显示</vt:lpstr>
      <vt:lpstr>附加实验：数码管扫描显示</vt:lpstr>
      <vt:lpstr>附加实验：数码管扫描显示</vt:lpstr>
      <vt:lpstr>附加实验：数码管扫描显示</vt:lpstr>
      <vt:lpstr>附加实验：数码管扫描显示</vt:lpstr>
      <vt:lpstr>附加实验：数码管扫描显示</vt:lpstr>
      <vt:lpstr>附加实验：数码管扫描显示</vt:lpstr>
      <vt:lpstr>附加实验：数码管扫描显示</vt:lpstr>
      <vt:lpstr>附加实验：数码管扫描显示</vt:lpstr>
      <vt:lpstr>附加实验：数码管扫描显示</vt:lpstr>
      <vt:lpstr>实验18 数码管扫描显示</vt:lpstr>
      <vt:lpstr>附加实验：数码管扫描显示</vt:lpstr>
      <vt:lpstr>附加实验：数码管扫描显示</vt:lpstr>
      <vt:lpstr>附加实验：数码管扫描显示</vt:lpstr>
      <vt:lpstr>附加实验：数码管扫描显示</vt:lpstr>
    </vt:vector>
  </TitlesOfParts>
  <Company>电子科大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《数字电路》实验指导</dc:title>
  <dc:creator>冯建文</dc:creator>
  <dc:subject>第5章</dc:subject>
  <cp:lastModifiedBy>LJ</cp:lastModifiedBy>
  <cp:revision>430</cp:revision>
  <dcterms:created xsi:type="dcterms:W3CDTF">2001-12-07T16:07:00Z</dcterms:created>
  <dcterms:modified xsi:type="dcterms:W3CDTF">2025-10-14T03:48:18Z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C9C94C90A34041A6A7CF55D9A9429507_12</vt:lpwstr>
  </property>
</Properties>
</file>