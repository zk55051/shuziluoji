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7" r:id="rId3"/>
    <p:sldId id="278" r:id="rId4"/>
    <p:sldId id="279" r:id="rId5"/>
  </p:sldIdLst>
  <p:sldSz cx="9144000" cy="6858000" type="screen4x3"/>
  <p:notesSz cx="6858000" cy="9144000"/>
  <p:defaultTextStyle>
    <a:defPPr>
      <a:defRPr lang="en-US"/>
    </a:defPPr>
    <a:lvl1pPr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FFCCFF"/>
    <a:srgbClr val="FF0000"/>
    <a:srgbClr val="003300"/>
    <a:srgbClr val="6600CC"/>
    <a:srgbClr val="3399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09" autoAdjust="0"/>
  </p:normalViewPr>
  <p:slideViewPr>
    <p:cSldViewPr showGuides="1">
      <p:cViewPr varScale="1">
        <p:scale>
          <a:sx n="73" d="100"/>
          <a:sy n="73" d="100"/>
        </p:scale>
        <p:origin x="1074" y="72"/>
      </p:cViewPr>
      <p:guideLst>
        <p:guide orient="horz" pos="2160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E581232-D479-4F41-9E12-F6FAE3BB6C4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2286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5" name="Picture 3" descr="hdulogopptcornor(透明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17475"/>
            <a:ext cx="3097212" cy="111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4" descr="SW이미지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500"/>
            <a:ext cx="91440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5"/>
          <p:cNvGrpSpPr/>
          <p:nvPr/>
        </p:nvGrpSpPr>
        <p:grpSpPr bwMode="auto">
          <a:xfrm>
            <a:off x="28575" y="4652963"/>
            <a:ext cx="9115425" cy="2205037"/>
            <a:chOff x="0" y="0"/>
            <a:chExt cx="5760" cy="1680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5760" cy="1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0" name="Group 8"/>
          <p:cNvGrpSpPr/>
          <p:nvPr/>
        </p:nvGrpSpPr>
        <p:grpSpPr bwMode="auto">
          <a:xfrm>
            <a:off x="0" y="4289425"/>
            <a:ext cx="9097963" cy="676275"/>
            <a:chOff x="0" y="0"/>
            <a:chExt cx="5731" cy="426"/>
          </a:xfrm>
        </p:grpSpPr>
        <p:sp>
          <p:nvSpPr>
            <p:cNvPr id="11" name="未知"/>
            <p:cNvSpPr/>
            <p:nvPr/>
          </p:nvSpPr>
          <p:spPr bwMode="auto">
            <a:xfrm flipV="1">
              <a:off x="0" y="0"/>
              <a:ext cx="5731" cy="364"/>
            </a:xfrm>
            <a:custGeom>
              <a:avLst/>
              <a:gdLst>
                <a:gd name="T0" fmla="*/ 0 w 5731"/>
                <a:gd name="T1" fmla="*/ 0 h 808"/>
                <a:gd name="T2" fmla="*/ 19 w 5731"/>
                <a:gd name="T3" fmla="*/ 126 h 808"/>
                <a:gd name="T4" fmla="*/ 1824 w 5731"/>
                <a:gd name="T5" fmla="*/ 333 h 808"/>
                <a:gd name="T6" fmla="*/ 3946 w 5731"/>
                <a:gd name="T7" fmla="*/ 313 h 808"/>
                <a:gd name="T8" fmla="*/ 5731 w 5731"/>
                <a:gd name="T9" fmla="*/ 134 h 808"/>
                <a:gd name="T10" fmla="*/ 5722 w 5731"/>
                <a:gd name="T11" fmla="*/ 69 h 808"/>
                <a:gd name="T12" fmla="*/ 0 w 5731"/>
                <a:gd name="T13" fmla="*/ 0 h 8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31" h="808">
                  <a:moveTo>
                    <a:pt x="0" y="0"/>
                  </a:moveTo>
                  <a:lnTo>
                    <a:pt x="19" y="279"/>
                  </a:lnTo>
                  <a:cubicBezTo>
                    <a:pt x="321" y="399"/>
                    <a:pt x="1170" y="671"/>
                    <a:pt x="1824" y="739"/>
                  </a:cubicBezTo>
                  <a:cubicBezTo>
                    <a:pt x="2478" y="808"/>
                    <a:pt x="3295" y="769"/>
                    <a:pt x="3946" y="695"/>
                  </a:cubicBezTo>
                  <a:cubicBezTo>
                    <a:pt x="4597" y="621"/>
                    <a:pt x="5435" y="387"/>
                    <a:pt x="5731" y="297"/>
                  </a:cubicBezTo>
                  <a:lnTo>
                    <a:pt x="5722" y="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/>
            <p:cNvSpPr/>
            <p:nvPr/>
          </p:nvSpPr>
          <p:spPr bwMode="auto">
            <a:xfrm flipV="1">
              <a:off x="0" y="47"/>
              <a:ext cx="5731" cy="379"/>
            </a:xfrm>
            <a:custGeom>
              <a:avLst/>
              <a:gdLst>
                <a:gd name="T0" fmla="*/ 0 w 5731"/>
                <a:gd name="T1" fmla="*/ 16 h 842"/>
                <a:gd name="T2" fmla="*/ 26 w 5731"/>
                <a:gd name="T3" fmla="*/ 142 h 842"/>
                <a:gd name="T4" fmla="*/ 1795 w 5731"/>
                <a:gd name="T5" fmla="*/ 347 h 842"/>
                <a:gd name="T6" fmla="*/ 3821 w 5731"/>
                <a:gd name="T7" fmla="*/ 334 h 842"/>
                <a:gd name="T8" fmla="*/ 5731 w 5731"/>
                <a:gd name="T9" fmla="*/ 144 h 842"/>
                <a:gd name="T10" fmla="*/ 5693 w 5731"/>
                <a:gd name="T11" fmla="*/ 0 h 842"/>
                <a:gd name="T12" fmla="*/ 0 w 5731"/>
                <a:gd name="T13" fmla="*/ 16 h 8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31" h="842">
                  <a:moveTo>
                    <a:pt x="0" y="36"/>
                  </a:moveTo>
                  <a:lnTo>
                    <a:pt x="26" y="315"/>
                  </a:lnTo>
                  <a:cubicBezTo>
                    <a:pt x="325" y="438"/>
                    <a:pt x="1163" y="700"/>
                    <a:pt x="1795" y="771"/>
                  </a:cubicBezTo>
                  <a:cubicBezTo>
                    <a:pt x="2427" y="842"/>
                    <a:pt x="3165" y="817"/>
                    <a:pt x="3821" y="742"/>
                  </a:cubicBezTo>
                  <a:cubicBezTo>
                    <a:pt x="4477" y="667"/>
                    <a:pt x="5419" y="444"/>
                    <a:pt x="5731" y="320"/>
                  </a:cubicBezTo>
                  <a:lnTo>
                    <a:pt x="5693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1"/>
          <p:cNvGrpSpPr/>
          <p:nvPr/>
        </p:nvGrpSpPr>
        <p:grpSpPr bwMode="auto">
          <a:xfrm>
            <a:off x="0" y="0"/>
            <a:ext cx="9144000" cy="6867525"/>
            <a:chOff x="0" y="0"/>
            <a:chExt cx="5760" cy="4326"/>
          </a:xfrm>
        </p:grpSpPr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27" y="24"/>
              <a:ext cx="5709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未知"/>
            <p:cNvSpPr/>
            <p:nvPr/>
          </p:nvSpPr>
          <p:spPr bwMode="auto">
            <a:xfrm>
              <a:off x="3" y="0"/>
              <a:ext cx="288" cy="288"/>
            </a:xfrm>
            <a:custGeom>
              <a:avLst/>
              <a:gdLst>
                <a:gd name="T0" fmla="*/ 0 w 336"/>
                <a:gd name="T1" fmla="*/ 36 h 384"/>
                <a:gd name="T2" fmla="*/ 0 w 336"/>
                <a:gd name="T3" fmla="*/ 288 h 384"/>
                <a:gd name="T4" fmla="*/ 82 w 336"/>
                <a:gd name="T5" fmla="*/ 144 h 384"/>
                <a:gd name="T6" fmla="*/ 165 w 336"/>
                <a:gd name="T7" fmla="*/ 36 h 384"/>
                <a:gd name="T8" fmla="*/ 288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/>
            <p:cNvSpPr/>
            <p:nvPr/>
          </p:nvSpPr>
          <p:spPr bwMode="auto">
            <a:xfrm rot="-5408600">
              <a:off x="-47" y="4030"/>
              <a:ext cx="336" cy="242"/>
            </a:xfrm>
            <a:custGeom>
              <a:avLst/>
              <a:gdLst>
                <a:gd name="T0" fmla="*/ 0 w 336"/>
                <a:gd name="T1" fmla="*/ 30 h 384"/>
                <a:gd name="T2" fmla="*/ 0 w 336"/>
                <a:gd name="T3" fmla="*/ 242 h 384"/>
                <a:gd name="T4" fmla="*/ 96 w 336"/>
                <a:gd name="T5" fmla="*/ 121 h 384"/>
                <a:gd name="T6" fmla="*/ 192 w 336"/>
                <a:gd name="T7" fmla="*/ 30 h 384"/>
                <a:gd name="T8" fmla="*/ 336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/>
            <p:cNvSpPr/>
            <p:nvPr/>
          </p:nvSpPr>
          <p:spPr bwMode="auto">
            <a:xfrm>
              <a:off x="5520" y="3978"/>
              <a:ext cx="240" cy="348"/>
            </a:xfrm>
            <a:custGeom>
              <a:avLst/>
              <a:gdLst>
                <a:gd name="T0" fmla="*/ 240 w 246"/>
                <a:gd name="T1" fmla="*/ 0 h 348"/>
                <a:gd name="T2" fmla="*/ 160 w 246"/>
                <a:gd name="T3" fmla="*/ 196 h 348"/>
                <a:gd name="T4" fmla="*/ 82 w 246"/>
                <a:gd name="T5" fmla="*/ 282 h 348"/>
                <a:gd name="T6" fmla="*/ 0 w 246"/>
                <a:gd name="T7" fmla="*/ 342 h 348"/>
                <a:gd name="T8" fmla="*/ 240 w 246"/>
                <a:gd name="T9" fmla="*/ 348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6" h="348">
                  <a:moveTo>
                    <a:pt x="246" y="0"/>
                  </a:moveTo>
                  <a:lnTo>
                    <a:pt x="164" y="196"/>
                  </a:lnTo>
                  <a:lnTo>
                    <a:pt x="84" y="282"/>
                  </a:lnTo>
                  <a:lnTo>
                    <a:pt x="0" y="342"/>
                  </a:lnTo>
                  <a:lnTo>
                    <a:pt x="246" y="3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/>
            <p:cNvSpPr/>
            <p:nvPr/>
          </p:nvSpPr>
          <p:spPr bwMode="auto">
            <a:xfrm rot="5400000">
              <a:off x="5472" y="0"/>
              <a:ext cx="288" cy="288"/>
            </a:xfrm>
            <a:custGeom>
              <a:avLst/>
              <a:gdLst>
                <a:gd name="T0" fmla="*/ 0 w 336"/>
                <a:gd name="T1" fmla="*/ 36 h 384"/>
                <a:gd name="T2" fmla="*/ 0 w 336"/>
                <a:gd name="T3" fmla="*/ 288 h 384"/>
                <a:gd name="T4" fmla="*/ 82 w 336"/>
                <a:gd name="T5" fmla="*/ 144 h 384"/>
                <a:gd name="T6" fmla="*/ 165 w 336"/>
                <a:gd name="T7" fmla="*/ 36 h 384"/>
                <a:gd name="T8" fmla="*/ 288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81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468313" y="1268413"/>
            <a:ext cx="8153400" cy="742950"/>
          </a:xfrm>
        </p:spPr>
        <p:txBody>
          <a:bodyPr/>
          <a:lstStyle>
            <a:lvl1pPr algn="ctr">
              <a:defRPr sz="3600" b="1"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11282" name="Rectangle 1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03350" y="5127625"/>
            <a:ext cx="64008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>
                <a:solidFill>
                  <a:schemeClr val="bg1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4BF44-52A9-44E3-8CC4-F8CD65EDE601}" type="slidenum">
              <a:rPr lang="ko-KR" altLang="en-US"/>
            </a:fld>
            <a:endParaRPr lang="en-US" altLang="zh-CN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8965" y="0"/>
            <a:ext cx="34245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计算机组成与</a:t>
            </a:r>
            <a:r>
              <a:rPr 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数字逻辑综合实验</a:t>
            </a:r>
            <a:endParaRPr 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00CC1-0744-48B2-8447-8061AAB6DA89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341438"/>
            <a:ext cx="4038600" cy="5081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341438"/>
            <a:ext cx="4038600" cy="5081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BE80F-E860-4F9E-AA4B-9BA0C810528B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017E6-4774-424C-9183-6472F5B7888A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9457A-E9E4-41AE-A491-8F5F642B8391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EDD2F-AD2C-46A9-A8B9-736CA11FDBD4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48692-1058-410D-8C04-0751BB8C9CE4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00414-ECC3-497E-890C-537E5004F049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D5694-63E5-46A1-A6AB-5A43B395D7A4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0538" y="333375"/>
            <a:ext cx="2124075" cy="60896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333375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A7574-4597-44CF-ADCE-4775340046C9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배너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6713"/>
            <a:ext cx="9144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333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8" name="未知"/>
          <p:cNvSpPr/>
          <p:nvPr/>
        </p:nvSpPr>
        <p:spPr bwMode="auto">
          <a:xfrm>
            <a:off x="0" y="950913"/>
            <a:ext cx="9150350" cy="461962"/>
          </a:xfrm>
          <a:custGeom>
            <a:avLst/>
            <a:gdLst>
              <a:gd name="T0" fmla="*/ 6346 w 5768"/>
              <a:gd name="T1" fmla="*/ 460700 h 366"/>
              <a:gd name="T2" fmla="*/ 0 w 5768"/>
              <a:gd name="T3" fmla="*/ 310499 h 366"/>
              <a:gd name="T4" fmla="*/ 2914215 w 5768"/>
              <a:gd name="T5" fmla="*/ 40390 h 366"/>
              <a:gd name="T6" fmla="*/ 6298004 w 5768"/>
              <a:gd name="T7" fmla="*/ 65634 h 366"/>
              <a:gd name="T8" fmla="*/ 9144004 w 5768"/>
              <a:gd name="T9" fmla="*/ 291566 h 366"/>
              <a:gd name="T10" fmla="*/ 9150350 w 5768"/>
              <a:gd name="T11" fmla="*/ 461962 h 366"/>
              <a:gd name="T12" fmla="*/ 6346 w 5768"/>
              <a:gd name="T13" fmla="*/ 460700 h 3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8" h="366">
                <a:moveTo>
                  <a:pt x="4" y="365"/>
                </a:moveTo>
                <a:lnTo>
                  <a:pt x="0" y="246"/>
                </a:lnTo>
                <a:cubicBezTo>
                  <a:pt x="304" y="192"/>
                  <a:pt x="1175" y="64"/>
                  <a:pt x="1837" y="32"/>
                </a:cubicBezTo>
                <a:cubicBezTo>
                  <a:pt x="2499" y="0"/>
                  <a:pt x="3316" y="19"/>
                  <a:pt x="3970" y="52"/>
                </a:cubicBezTo>
                <a:cubicBezTo>
                  <a:pt x="4624" y="85"/>
                  <a:pt x="5464" y="179"/>
                  <a:pt x="5764" y="231"/>
                </a:cubicBezTo>
                <a:lnTo>
                  <a:pt x="5768" y="366"/>
                </a:lnTo>
                <a:lnTo>
                  <a:pt x="4" y="3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333375"/>
            <a:ext cx="7848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1438"/>
            <a:ext cx="8229600" cy="508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buFont typeface="Arial" panose="020B0604020202020204" pitchFamily="34" charset="0"/>
              <a:buNone/>
              <a:defRPr sz="1400" smtClean="0">
                <a:solidFill>
                  <a:schemeClr val="tx1"/>
                </a:solidFill>
                <a:ea typeface="Gulim" pitchFamily="34" charset="-127"/>
              </a:defRPr>
            </a:lvl1pPr>
          </a:lstStyle>
          <a:p>
            <a:pPr>
              <a:defRPr/>
            </a:pPr>
            <a:fld id="{5E0B660C-5D96-4EFE-8EA2-3EACB708FB18}" type="slidenum">
              <a:rPr lang="ko-KR" altLang="en-US"/>
            </a:fld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mtClean="0">
                <a:latin typeface="+mn-lt"/>
              </a:defRPr>
            </a:lvl1pPr>
          </a:lstStyle>
          <a:p>
            <a:pPr>
              <a:defRPr/>
            </a:pP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扩展实验项目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400" b="1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400" b="1">
          <a:solidFill>
            <a:schemeClr val="tx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GIF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A609B76-BD0B-497B-AFE2-ECEE7E6C2DE1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6BC1231-6167-4764-939B-C6E894A4C72D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综合实验二： </a:t>
            </a:r>
            <a:r>
              <a:rPr lang="zh-CN" altLang="en-US" b="1" dirty="0"/>
              <a:t>数字钟设计</a:t>
            </a:r>
            <a:endParaRPr lang="zh-CN" altLang="en-US" b="1" dirty="0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zh-CN" dirty="0"/>
              <a:t>1</a:t>
            </a:r>
            <a:r>
              <a:rPr lang="zh-CN" altLang="en-US" dirty="0"/>
              <a:t>、实验目的 </a:t>
            </a:r>
            <a:endParaRPr lang="zh-CN" altLang="en-US" dirty="0"/>
          </a:p>
          <a:p>
            <a:pPr lvl="1"/>
            <a:r>
              <a:rPr lang="zh-CN" altLang="zh-CN" dirty="0"/>
              <a:t>掌握数码管的动态扫描方法；</a:t>
            </a:r>
            <a:endParaRPr lang="zh-CN" altLang="zh-CN" dirty="0"/>
          </a:p>
          <a:p>
            <a:pPr lvl="1"/>
            <a:r>
              <a:rPr lang="zh-CN" altLang="zh-CN" dirty="0"/>
              <a:t>锻炼编程设计数字系统的能力；</a:t>
            </a:r>
            <a:endParaRPr lang="zh-CN" altLang="zh-CN" dirty="0"/>
          </a:p>
          <a:p>
            <a:pPr lvl="1"/>
            <a:r>
              <a:rPr lang="zh-CN" altLang="zh-CN" dirty="0"/>
              <a:t>掌握灵活运用</a:t>
            </a:r>
            <a:r>
              <a:rPr lang="en-US" altLang="zh-CN" dirty="0"/>
              <a:t>Verilog HDL</a:t>
            </a:r>
            <a:r>
              <a:rPr lang="zh-CN" altLang="zh-CN" dirty="0"/>
              <a:t>语言进行各种描述与建模的技巧和方法。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sym typeface="+mn-ea"/>
              </a:rPr>
              <a:t>综合实验二： </a:t>
            </a:r>
            <a:r>
              <a:rPr lang="zh-CN" altLang="en-US" b="1" dirty="0">
                <a:sym typeface="+mn-ea"/>
              </a:rPr>
              <a:t>数字钟设计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5111898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lvl="1"/>
            <a:r>
              <a:rPr lang="zh-CN" altLang="zh-CN" dirty="0"/>
              <a:t>本实验要求设计一个</a:t>
            </a:r>
            <a:r>
              <a:rPr lang="zh-CN" altLang="zh-CN" dirty="0">
                <a:solidFill>
                  <a:srgbClr val="0000FF"/>
                </a:solidFill>
              </a:rPr>
              <a:t>数字时钟，模拟电子表</a:t>
            </a:r>
            <a:r>
              <a:rPr lang="zh-CN" altLang="zh-CN" dirty="0"/>
              <a:t>功能：</a:t>
            </a:r>
            <a:endParaRPr lang="zh-CN" altLang="zh-CN" dirty="0"/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zh-CN" dirty="0">
                <a:solidFill>
                  <a:srgbClr val="FF0000"/>
                </a:solidFill>
              </a:rPr>
              <a:t>）基本功能：计</a:t>
            </a:r>
            <a:r>
              <a:rPr lang="zh-CN" altLang="en-US" dirty="0">
                <a:solidFill>
                  <a:srgbClr val="FF0000"/>
                </a:solidFill>
              </a:rPr>
              <a:t>时小时、</a:t>
            </a:r>
            <a:r>
              <a:rPr lang="zh-CN" altLang="zh-CN" dirty="0">
                <a:solidFill>
                  <a:srgbClr val="FF0000"/>
                </a:solidFill>
              </a:rPr>
              <a:t>分和秒，并用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zh-CN" dirty="0">
                <a:solidFill>
                  <a:srgbClr val="FF0000"/>
                </a:solidFill>
              </a:rPr>
              <a:t>位数码管显示。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）附加控制功能：自选，譬如启动和停止计时、设置时间、显示日期、设置日期等，也可根据需要自行设计。</a:t>
            </a:r>
            <a:endParaRPr lang="zh-CN" altLang="zh-CN" dirty="0"/>
          </a:p>
          <a:p>
            <a:pPr lvl="1"/>
            <a:r>
              <a:rPr lang="zh-CN" altLang="zh-CN" dirty="0"/>
              <a:t>注意，本实验可以调用数码管基本显示模块，时间基准可以采用系统</a:t>
            </a:r>
            <a:r>
              <a:rPr lang="en-US" altLang="zh-CN" dirty="0"/>
              <a:t>100MHz</a:t>
            </a:r>
            <a:r>
              <a:rPr lang="zh-CN" altLang="zh-CN" dirty="0"/>
              <a:t>的时钟输入。</a:t>
            </a:r>
            <a:endParaRPr lang="zh-CN" altLang="zh-CN" dirty="0"/>
          </a:p>
          <a:p>
            <a:pPr marL="533400" indent="-533400" eaLnBrk="1" hangingPunct="1"/>
            <a:endParaRPr lang="zh-CN" altLang="en-US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76CF96F-3408-4F59-9DD7-437C69D84908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498EE0-F386-4FF0-96DF-FEA45926AA97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sym typeface="+mn-ea"/>
              </a:rPr>
              <a:t>综合实验二： </a:t>
            </a:r>
            <a:r>
              <a:rPr lang="zh-CN" altLang="en-US" b="1" dirty="0">
                <a:sym typeface="+mn-ea"/>
              </a:rPr>
              <a:t>数字钟设计</a:t>
            </a:r>
            <a:endParaRPr lang="zh-CN" altLang="en-US" b="1" dirty="0"/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464050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5</a:t>
            </a:r>
            <a:r>
              <a:rPr lang="zh-CN" altLang="en-US" dirty="0"/>
              <a:t>、思考与探索 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zh-CN" dirty="0">
                <a:solidFill>
                  <a:srgbClr val="FF0000"/>
                </a:solidFill>
              </a:rPr>
              <a:t>详细描述你的数字钟的功能，谈谈你在实验中碰到了哪些问题，又是如何解决的？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zh-CN" dirty="0"/>
              <a:t>试着设计一个定时器，输入定时时间（譬如</a:t>
            </a:r>
            <a:r>
              <a:rPr lang="en-US" altLang="zh-CN" dirty="0"/>
              <a:t>3</a:t>
            </a:r>
            <a:r>
              <a:rPr lang="zh-CN" altLang="zh-CN" dirty="0"/>
              <a:t>分</a:t>
            </a:r>
            <a:r>
              <a:rPr lang="en-US" altLang="zh-CN" dirty="0"/>
              <a:t>10</a:t>
            </a:r>
            <a:r>
              <a:rPr lang="zh-CN" altLang="zh-CN" dirty="0"/>
              <a:t>秒），然后启动定时后，到时间则通过</a:t>
            </a:r>
            <a:r>
              <a:rPr lang="en-US" altLang="zh-CN" dirty="0"/>
              <a:t>LED</a:t>
            </a:r>
            <a:r>
              <a:rPr lang="zh-CN" altLang="zh-CN" dirty="0"/>
              <a:t>灯指示定时时间到。</a:t>
            </a:r>
            <a:endParaRPr lang="zh-CN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如果需要显示星期几和设置星期几，考虑如何实现？</a:t>
            </a:r>
            <a:endParaRPr lang="zh-CN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查阅资料，了解计算机的实时钟是如何实现的，思考：能否用</a:t>
            </a:r>
            <a:r>
              <a:rPr lang="en-US" altLang="zh-CN" dirty="0"/>
              <a:t>FPGA</a:t>
            </a:r>
            <a:r>
              <a:rPr lang="zh-CN" altLang="zh-CN" dirty="0"/>
              <a:t>实现？</a:t>
            </a:r>
            <a:endParaRPr lang="zh-CN" altLang="zh-CN" dirty="0"/>
          </a:p>
        </p:txBody>
      </p:sp>
      <p:pic>
        <p:nvPicPr>
          <p:cNvPr id="239620" name="Picture 4" descr="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5949950"/>
            <a:ext cx="14351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396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008TGp_BizCom_light_4">
  <a:themeElements>
    <a:clrScheme name="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2CA3C8"/>
      </a:accent1>
      <a:accent2>
        <a:srgbClr val="FF9900"/>
      </a:accent2>
      <a:accent3>
        <a:srgbClr val="FFFFFF"/>
      </a:accent3>
      <a:accent4>
        <a:srgbClr val="174578"/>
      </a:accent4>
      <a:accent5>
        <a:srgbClr val="ACCEE0"/>
      </a:accent5>
      <a:accent6>
        <a:srgbClr val="E78A00"/>
      </a:accent6>
      <a:hlink>
        <a:srgbClr val="0000FF"/>
      </a:hlink>
      <a:folHlink>
        <a:srgbClr val="00CC00"/>
      </a:folHlink>
    </a:clrScheme>
    <a:fontScheme name="008TGp_BizCom_light_4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008TGp_BizCom_light_4 1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2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15978"/>
        </a:accent4>
        <a:accent5>
          <a:srgbClr val="B0C6C6"/>
        </a:accent5>
        <a:accent6>
          <a:srgbClr val="B9B900"/>
        </a:accent6>
        <a:hlink>
          <a:srgbClr val="33CC33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00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5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7C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6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336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7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6600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8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0000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9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33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0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33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1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00FF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66FF33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66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66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5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CC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6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CCFF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Designs\High Voltage.pot</Template>
  <TotalTime>0</TotalTime>
  <Words>426</Words>
  <Application>WPS 演示</Application>
  <PresentationFormat>全屏显示(4:3)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Verdana</vt:lpstr>
      <vt:lpstr>Gulim</vt:lpstr>
      <vt:lpstr>Malgun Gothic</vt:lpstr>
      <vt:lpstr>华文中宋</vt:lpstr>
      <vt:lpstr>Arial Unicode MS</vt:lpstr>
      <vt:lpstr>Times New Roman</vt:lpstr>
      <vt:lpstr>微软雅黑</vt:lpstr>
      <vt:lpstr>008TGp_BizCom_light_4</vt:lpstr>
      <vt:lpstr>综合实验二： 数字钟设计</vt:lpstr>
      <vt:lpstr>实验十九 数字钟设计</vt:lpstr>
      <vt:lpstr>实验十九 数字钟设计</vt:lpstr>
    </vt:vector>
  </TitlesOfParts>
  <Company>电子科大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冯建文</dc:creator>
  <dc:subject>第5章</dc:subject>
  <cp:lastModifiedBy>LJ</cp:lastModifiedBy>
  <cp:revision>422</cp:revision>
  <dcterms:created xsi:type="dcterms:W3CDTF">2001-12-07T16:07:00Z</dcterms:created>
  <dcterms:modified xsi:type="dcterms:W3CDTF">2025-10-17T01:45:40Z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6DE4B0A1FDDB45BD94384880D1F3F4F3_12</vt:lpwstr>
  </property>
</Properties>
</file>