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87" r:id="rId3"/>
    <p:sldId id="288" r:id="rId4"/>
    <p:sldId id="289" r:id="rId5"/>
    <p:sldId id="292" r:id="rId6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600" b="1" i="0" u="none" kern="1200" baseline="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600" b="1" i="0" u="none" kern="1200" baseline="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600" b="1" i="0" u="none" kern="1200" baseline="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600" b="1" i="0" u="none" kern="1200" baseline="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600" b="1" i="0" u="none" kern="1200" baseline="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600" b="1" i="0" u="none" kern="1200" baseline="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600" b="1" i="0" u="none" kern="1200" baseline="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600" b="1" i="0" u="none" kern="1200" baseline="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1600" b="1" i="0" u="none" kern="1200" baseline="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0000FF"/>
    <a:srgbClr val="CCFFFF"/>
    <a:srgbClr val="FF0000"/>
    <a:srgbClr val="003300"/>
    <a:srgbClr val="6600CC"/>
    <a:srgbClr val="3399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55"/>
    <p:restoredTop sz="94609"/>
  </p:normalViewPr>
  <p:slideViewPr>
    <p:cSldViewPr showGuides="1">
      <p:cViewPr varScale="1">
        <p:scale>
          <a:sx n="104" d="100"/>
          <a:sy n="104" d="100"/>
        </p:scale>
        <p:origin x="604" y="76"/>
      </p:cViewPr>
      <p:guideLst>
        <p:guide orient="horz" pos="2160"/>
        <p:guide pos="28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5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eaLnBrk="1" hangingPunct="1">
              <a:buNone/>
            </a:pPr>
            <a:fld id="{9A0DB2DC-4C9A-4742-B13C-FB6460FD3503}" type="slidenum"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zh-CN" altLang="en-US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22860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1" name="Picture 3" descr="hdulogopptcornor(透明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2413" y="117475"/>
            <a:ext cx="3097212" cy="1119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4" descr="SW이미지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9500"/>
            <a:ext cx="9144000" cy="26638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3" name="Group 5"/>
          <p:cNvGrpSpPr/>
          <p:nvPr/>
        </p:nvGrpSpPr>
        <p:grpSpPr>
          <a:xfrm>
            <a:off x="28575" y="4652963"/>
            <a:ext cx="9115425" cy="2205037"/>
            <a:chOff x="0" y="0"/>
            <a:chExt cx="5760" cy="1680"/>
          </a:xfrm>
        </p:grpSpPr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5760" cy="1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4" name="Group 8"/>
          <p:cNvGrpSpPr/>
          <p:nvPr/>
        </p:nvGrpSpPr>
        <p:grpSpPr>
          <a:xfrm>
            <a:off x="0" y="4289425"/>
            <a:ext cx="9097963" cy="676275"/>
            <a:chOff x="0" y="0"/>
            <a:chExt cx="5731" cy="426"/>
          </a:xfrm>
        </p:grpSpPr>
        <p:sp>
          <p:nvSpPr>
            <p:cNvPr id="2063" name="未知"/>
            <p:cNvSpPr/>
            <p:nvPr/>
          </p:nvSpPr>
          <p:spPr>
            <a:xfrm flipV="1">
              <a:off x="0" y="0"/>
              <a:ext cx="5731" cy="3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57"/>
                </a:cxn>
                <a:cxn ang="0">
                  <a:pos x="1824" y="150"/>
                </a:cxn>
                <a:cxn ang="0">
                  <a:pos x="3946" y="141"/>
                </a:cxn>
                <a:cxn ang="0">
                  <a:pos x="5731" y="60"/>
                </a:cxn>
                <a:cxn ang="0">
                  <a:pos x="5722" y="31"/>
                </a:cxn>
                <a:cxn ang="0">
                  <a:pos x="0" y="0"/>
                </a:cxn>
              </a:cxnLst>
              <a:pathLst>
                <a:path w="5731" h="808">
                  <a:moveTo>
                    <a:pt x="0" y="0"/>
                  </a:moveTo>
                  <a:lnTo>
                    <a:pt x="19" y="279"/>
                  </a:lnTo>
                  <a:cubicBezTo>
                    <a:pt x="321" y="399"/>
                    <a:pt x="1170" y="671"/>
                    <a:pt x="1824" y="739"/>
                  </a:cubicBezTo>
                  <a:cubicBezTo>
                    <a:pt x="2478" y="808"/>
                    <a:pt x="3295" y="769"/>
                    <a:pt x="3946" y="695"/>
                  </a:cubicBezTo>
                  <a:cubicBezTo>
                    <a:pt x="4597" y="621"/>
                    <a:pt x="5435" y="387"/>
                    <a:pt x="5731" y="297"/>
                  </a:cubicBezTo>
                  <a:lnTo>
                    <a:pt x="5722" y="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未知"/>
            <p:cNvSpPr/>
            <p:nvPr/>
          </p:nvSpPr>
          <p:spPr>
            <a:xfrm flipV="1">
              <a:off x="0" y="47"/>
              <a:ext cx="5731" cy="379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6" y="64"/>
                </a:cxn>
                <a:cxn ang="0">
                  <a:pos x="1795" y="156"/>
                </a:cxn>
                <a:cxn ang="0">
                  <a:pos x="3821" y="150"/>
                </a:cxn>
                <a:cxn ang="0">
                  <a:pos x="5731" y="65"/>
                </a:cxn>
                <a:cxn ang="0">
                  <a:pos x="5693" y="0"/>
                </a:cxn>
                <a:cxn ang="0">
                  <a:pos x="0" y="7"/>
                </a:cxn>
              </a:cxnLst>
              <a:pathLst>
                <a:path w="5731" h="842">
                  <a:moveTo>
                    <a:pt x="0" y="36"/>
                  </a:moveTo>
                  <a:lnTo>
                    <a:pt x="26" y="315"/>
                  </a:lnTo>
                  <a:cubicBezTo>
                    <a:pt x="325" y="438"/>
                    <a:pt x="1163" y="700"/>
                    <a:pt x="1795" y="771"/>
                  </a:cubicBezTo>
                  <a:cubicBezTo>
                    <a:pt x="2427" y="842"/>
                    <a:pt x="3165" y="817"/>
                    <a:pt x="3821" y="742"/>
                  </a:cubicBezTo>
                  <a:cubicBezTo>
                    <a:pt x="4477" y="667"/>
                    <a:pt x="5419" y="444"/>
                    <a:pt x="5731" y="320"/>
                  </a:cubicBezTo>
                  <a:lnTo>
                    <a:pt x="5693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55" name="Group 11"/>
          <p:cNvGrpSpPr/>
          <p:nvPr/>
        </p:nvGrpSpPr>
        <p:grpSpPr>
          <a:xfrm>
            <a:off x="0" y="0"/>
            <a:ext cx="9144000" cy="6867525"/>
            <a:chOff x="0" y="0"/>
            <a:chExt cx="5760" cy="4326"/>
          </a:xfrm>
        </p:grpSpPr>
        <p:sp>
          <p:nvSpPr>
            <p:cNvPr id="21" name="AutoShape 12"/>
            <p:cNvSpPr>
              <a:spLocks noChangeArrowheads="1"/>
            </p:cNvSpPr>
            <p:nvPr/>
          </p:nvSpPr>
          <p:spPr bwMode="auto">
            <a:xfrm>
              <a:off x="27" y="24"/>
              <a:ext cx="5709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</a:ln>
            <a:effectLst/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未知"/>
            <p:cNvSpPr/>
            <p:nvPr/>
          </p:nvSpPr>
          <p:spPr>
            <a:xfrm>
              <a:off x="3" y="0"/>
              <a:ext cx="288" cy="288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0" y="216"/>
                </a:cxn>
                <a:cxn ang="0">
                  <a:pos x="70" y="108"/>
                </a:cxn>
                <a:cxn ang="0">
                  <a:pos x="141" y="27"/>
                </a:cxn>
                <a:cxn ang="0">
                  <a:pos x="247" y="0"/>
                </a:cxn>
                <a:cxn ang="0">
                  <a:pos x="0" y="0"/>
                </a:cxn>
              </a:cxnLst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未知"/>
            <p:cNvSpPr/>
            <p:nvPr/>
          </p:nvSpPr>
          <p:spPr>
            <a:xfrm rot="-5408600">
              <a:off x="-47" y="4030"/>
              <a:ext cx="336" cy="24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0" y="153"/>
                </a:cxn>
                <a:cxn ang="0">
                  <a:pos x="96" y="76"/>
                </a:cxn>
                <a:cxn ang="0">
                  <a:pos x="192" y="19"/>
                </a:cxn>
                <a:cxn ang="0">
                  <a:pos x="336" y="0"/>
                </a:cxn>
                <a:cxn ang="0">
                  <a:pos x="0" y="0"/>
                </a:cxn>
              </a:cxnLst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未知"/>
            <p:cNvSpPr/>
            <p:nvPr/>
          </p:nvSpPr>
          <p:spPr>
            <a:xfrm>
              <a:off x="5520" y="3978"/>
              <a:ext cx="240" cy="348"/>
            </a:xfrm>
            <a:custGeom>
              <a:avLst/>
              <a:gdLst/>
              <a:ahLst/>
              <a:cxnLst>
                <a:cxn ang="0">
                  <a:pos x="234" y="0"/>
                </a:cxn>
                <a:cxn ang="0">
                  <a:pos x="156" y="196"/>
                </a:cxn>
                <a:cxn ang="0">
                  <a:pos x="80" y="282"/>
                </a:cxn>
                <a:cxn ang="0">
                  <a:pos x="0" y="342"/>
                </a:cxn>
                <a:cxn ang="0">
                  <a:pos x="234" y="348"/>
                </a:cxn>
              </a:cxnLst>
              <a:pathLst>
                <a:path w="246" h="348">
                  <a:moveTo>
                    <a:pt x="246" y="0"/>
                  </a:moveTo>
                  <a:lnTo>
                    <a:pt x="164" y="196"/>
                  </a:lnTo>
                  <a:lnTo>
                    <a:pt x="84" y="282"/>
                  </a:lnTo>
                  <a:lnTo>
                    <a:pt x="0" y="342"/>
                  </a:lnTo>
                  <a:lnTo>
                    <a:pt x="246" y="348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未知"/>
            <p:cNvSpPr/>
            <p:nvPr/>
          </p:nvSpPr>
          <p:spPr>
            <a:xfrm rot="5400000">
              <a:off x="5472" y="0"/>
              <a:ext cx="288" cy="288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0" y="216"/>
                </a:cxn>
                <a:cxn ang="0">
                  <a:pos x="70" y="108"/>
                </a:cxn>
                <a:cxn ang="0">
                  <a:pos x="141" y="27"/>
                </a:cxn>
                <a:cxn ang="0">
                  <a:pos x="247" y="0"/>
                </a:cxn>
                <a:cxn ang="0">
                  <a:pos x="0" y="0"/>
                </a:cxn>
              </a:cxnLst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1281" name="Rectangle 17"/>
          <p:cNvSpPr>
            <a:spLocks noGrp="1" noChangeArrowheads="1"/>
          </p:cNvSpPr>
          <p:nvPr>
            <p:ph type="ctrTitle" sz="quarter"/>
          </p:nvPr>
        </p:nvSpPr>
        <p:spPr>
          <a:xfrm>
            <a:off x="468313" y="1268413"/>
            <a:ext cx="8153400" cy="742950"/>
          </a:xfrm>
        </p:spPr>
        <p:txBody>
          <a:bodyPr/>
          <a:lstStyle>
            <a:lvl1pPr algn="ctr">
              <a:defRPr sz="3600" b="1"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11282" name="Rectangle 1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03350" y="5127625"/>
            <a:ext cx="640080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>
                <a:solidFill>
                  <a:schemeClr val="bg1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Box 6"/>
          <p:cNvSpPr txBox="1"/>
          <p:nvPr userDrawn="1"/>
        </p:nvSpPr>
        <p:spPr>
          <a:xfrm>
            <a:off x="5448935" y="0"/>
            <a:ext cx="366331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r" eaLnBrk="1" hangingPunct="1">
              <a:buNone/>
            </a:pPr>
            <a:r>
              <a:rPr 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计算机组成与</a:t>
            </a:r>
            <a:r>
              <a:rPr 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数字逻辑综合实验</a:t>
            </a:r>
            <a:endParaRPr 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实验系统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341438"/>
            <a:ext cx="4038600" cy="5081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1341438"/>
            <a:ext cx="4038600" cy="5081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实验系统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实验系统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实验系统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实验系统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实验系统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实验系统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实验系统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0538" y="333375"/>
            <a:ext cx="2124075" cy="60896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333375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实验系统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ko-KR" altLang="en-US" dirty="0">
                <a:ea typeface="Gulim" pitchFamily="34" charset="-127"/>
              </a:rPr>
            </a:fld>
            <a:endParaRPr lang="ko-KR" altLang="en-US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배너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66713"/>
            <a:ext cx="9144000" cy="936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333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未知"/>
          <p:cNvSpPr/>
          <p:nvPr/>
        </p:nvSpPr>
        <p:spPr>
          <a:xfrm>
            <a:off x="0" y="950913"/>
            <a:ext cx="9150350" cy="461962"/>
          </a:xfrm>
          <a:custGeom>
            <a:avLst/>
            <a:gdLst/>
            <a:ahLst/>
            <a:cxnLst>
              <a:cxn ang="0">
                <a:pos x="10067289" y="581491512"/>
              </a:cxn>
              <a:cxn ang="0">
                <a:pos x="0" y="391909123"/>
              </a:cxn>
              <a:cxn ang="0">
                <a:pos x="2147483646" y="50979905"/>
              </a:cxn>
              <a:cxn ang="0">
                <a:pos x="2147483646" y="82842661"/>
              </a:cxn>
              <a:cxn ang="0">
                <a:pos x="2147483646" y="368012056"/>
              </a:cxn>
              <a:cxn ang="0">
                <a:pos x="2147483646" y="583084397"/>
              </a:cxn>
              <a:cxn ang="0">
                <a:pos x="10067289" y="581491512"/>
              </a:cxn>
            </a:cxnLst>
            <a:pathLst>
              <a:path w="5768" h="366">
                <a:moveTo>
                  <a:pt x="4" y="365"/>
                </a:moveTo>
                <a:lnTo>
                  <a:pt x="0" y="246"/>
                </a:lnTo>
                <a:cubicBezTo>
                  <a:pt x="304" y="192"/>
                  <a:pt x="1175" y="64"/>
                  <a:pt x="1837" y="32"/>
                </a:cubicBezTo>
                <a:cubicBezTo>
                  <a:pt x="2499" y="0"/>
                  <a:pt x="3316" y="19"/>
                  <a:pt x="3970" y="52"/>
                </a:cubicBezTo>
                <a:cubicBezTo>
                  <a:pt x="4624" y="85"/>
                  <a:pt x="5464" y="179"/>
                  <a:pt x="5764" y="231"/>
                </a:cubicBezTo>
                <a:lnTo>
                  <a:pt x="5768" y="366"/>
                </a:lnTo>
                <a:lnTo>
                  <a:pt x="4" y="365"/>
                </a:lnTo>
                <a:close/>
              </a:path>
            </a:pathLst>
          </a:custGeom>
          <a:solidFill>
            <a:schemeClr val="bg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>
            <a:off x="425450" y="6524625"/>
            <a:ext cx="83534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333375"/>
            <a:ext cx="78486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47" name="Rectangle 7"/>
          <p:cNvSpPr>
            <a:spLocks noGrp="1"/>
          </p:cNvSpPr>
          <p:nvPr>
            <p:ph type="body" idx="1"/>
          </p:nvPr>
        </p:nvSpPr>
        <p:spPr>
          <a:xfrm>
            <a:off x="468313" y="1341438"/>
            <a:ext cx="8229600" cy="50815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 smtClean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AFFB2B-C28B-45EA-8C9C-1400926F539F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5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solidFill>
                  <a:schemeClr val="tx1"/>
                </a:solidFill>
                <a:ea typeface="Gulim" pitchFamily="34" charset="-127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ko-KR" altLang="en-US" dirty="0">
                <a:latin typeface="Verdana" panose="020B0604030504040204" pitchFamily="34" charset="0"/>
              </a:rPr>
            </a:fld>
            <a:endParaRPr lang="ko-KR" altLang="en-US" dirty="0">
              <a:latin typeface="Verdana" panose="020B0604030504040204" pitchFamily="34" charset="0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mtClean="0"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章 扩展实验项目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400" b="1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400" b="1">
          <a:solidFill>
            <a:schemeClr val="tx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3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dirty="0">
                <a:latin typeface="Verdana" panose="020B0604030504040204" pitchFamily="34" charset="0"/>
                <a:ea typeface="Gulim" pitchFamily="34" charset="-127"/>
              </a:rPr>
            </a:fld>
            <a:endParaRPr lang="ko-KR" altLang="en-US" sz="1400" dirty="0">
              <a:latin typeface="Verdana" panose="020B0604030504040204" pitchFamily="34" charset="0"/>
              <a:ea typeface="Gulim" pitchFamily="34" charset="-127"/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综合实验一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：流水灯</a:t>
            </a:r>
            <a:r>
              <a:rPr kumimoji="0" lang="zh-CN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533400" indent="-533400" eaLnBrk="1" hangingPunct="1"/>
            <a:r>
              <a:rPr lang="en-US" altLang="zh-CN" dirty="0"/>
              <a:t>1</a:t>
            </a:r>
            <a:r>
              <a:rPr lang="zh-CN" altLang="en-US" dirty="0"/>
              <a:t>、实验目的 </a:t>
            </a:r>
            <a:endParaRPr lang="zh-CN" altLang="en-US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）理解流水灯的原理</a:t>
            </a:r>
            <a:r>
              <a:rPr lang="zh-CN" altLang="zh-CN" dirty="0"/>
              <a:t>；</a:t>
            </a:r>
            <a:endParaRPr lang="zh-CN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zh-CN" dirty="0"/>
              <a:t>掌握灵活运用</a:t>
            </a:r>
            <a:r>
              <a:rPr lang="en-US" altLang="zh-CN" dirty="0"/>
              <a:t>Verilog HDL</a:t>
            </a:r>
            <a:r>
              <a:rPr lang="zh-CN" altLang="zh-CN" dirty="0"/>
              <a:t>语言进行各种描述与建模的技巧和方法。</a:t>
            </a:r>
            <a:endParaRPr lang="zh-CN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3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dirty="0">
                <a:latin typeface="Verdana" panose="020B0604030504040204" pitchFamily="34" charset="0"/>
                <a:ea typeface="Gulim" pitchFamily="34" charset="-127"/>
              </a:rPr>
            </a:fld>
            <a:endParaRPr lang="ko-KR" altLang="en-US" sz="1400" dirty="0">
              <a:latin typeface="Verdana" panose="020B0604030504040204" pitchFamily="34" charset="0"/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综合实验一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：流水灯</a:t>
            </a:r>
            <a:r>
              <a:rPr lang="zh-CN" altLang="zh-CN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>
          <a:xfrm>
            <a:off x="468630" y="1341755"/>
            <a:ext cx="8341360" cy="5111750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lvl="1"/>
            <a:r>
              <a:rPr lang="zh-CN" altLang="zh-CN" dirty="0"/>
              <a:t>设计一个</a:t>
            </a:r>
            <a:r>
              <a:rPr lang="zh-CN" altLang="en-US" dirty="0"/>
              <a:t>流水灯</a:t>
            </a:r>
            <a:r>
              <a:rPr lang="zh-CN" altLang="zh-CN" dirty="0"/>
              <a:t>。</a:t>
            </a:r>
            <a:endParaRPr lang="zh-CN" altLang="zh-CN" dirty="0"/>
          </a:p>
          <a:p>
            <a:pPr lvl="1"/>
            <a:r>
              <a:rPr lang="zh-CN" altLang="zh-CN" dirty="0">
                <a:solidFill>
                  <a:srgbClr val="FF0000"/>
                </a:solidFill>
              </a:rPr>
              <a:t>系统输入</a:t>
            </a:r>
            <a:r>
              <a:rPr lang="zh-CN" altLang="zh-CN" dirty="0"/>
              <a:t>：</a:t>
            </a:r>
            <a:r>
              <a:rPr lang="zh-CN" altLang="en-US" dirty="0"/>
              <a:t>一个开关表示亮着的灯的移动方向；一个按键，按下一次亮着的</a:t>
            </a:r>
            <a:r>
              <a:rPr lang="en-US" altLang="zh-CN" dirty="0"/>
              <a:t>LED</a:t>
            </a:r>
            <a:r>
              <a:rPr lang="zh-CN" altLang="en-US" dirty="0"/>
              <a:t>灯移动一次。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FF0000"/>
                </a:solidFill>
              </a:rPr>
              <a:t>系统输出：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altLang="zh-CN" dirty="0"/>
              <a:t>LED</a:t>
            </a:r>
            <a:r>
              <a:rPr lang="zh-CN" altLang="zh-CN" dirty="0"/>
              <a:t>灯</a:t>
            </a:r>
            <a:r>
              <a:rPr lang="zh-CN" altLang="en-US" dirty="0"/>
              <a:t>，其中同一时间只会亮一个灯。</a:t>
            </a:r>
            <a:endParaRPr lang="en-US" altLang="zh-CN" dirty="0"/>
          </a:p>
        </p:txBody>
      </p:sp>
      <p:sp>
        <p:nvSpPr>
          <p:cNvPr id="15366" name="Rectangle 8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r" eaLnBrk="1" hangingPunct="1">
              <a:buNone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3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dirty="0">
                <a:latin typeface="Verdana" panose="020B0604030504040204" pitchFamily="34" charset="0"/>
                <a:ea typeface="Gulim" pitchFamily="34" charset="-127"/>
              </a:rPr>
            </a:fld>
            <a:endParaRPr lang="ko-KR" altLang="en-US" sz="1400" dirty="0">
              <a:latin typeface="Verdana" panose="020B0604030504040204" pitchFamily="34" charset="0"/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综合实验一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：流水灯</a:t>
            </a:r>
            <a:r>
              <a:rPr lang="zh-CN" altLang="zh-CN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>
          <a:xfrm>
            <a:off x="468313" y="1341438"/>
            <a:ext cx="8207375" cy="5111750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lvl="1"/>
            <a:r>
              <a:rPr lang="zh-CN" altLang="zh-CN" dirty="0"/>
              <a:t>系统的</a:t>
            </a:r>
            <a:r>
              <a:rPr lang="zh-CN" altLang="zh-CN" dirty="0">
                <a:solidFill>
                  <a:srgbClr val="FF0000"/>
                </a:solidFill>
              </a:rPr>
              <a:t>运行规则</a:t>
            </a:r>
            <a:r>
              <a:rPr lang="zh-CN" altLang="zh-CN" dirty="0"/>
              <a:t>是：</a:t>
            </a:r>
            <a:endParaRPr lang="zh-CN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）开关打到值为</a:t>
            </a:r>
            <a:r>
              <a:rPr lang="en-US" altLang="zh-CN" dirty="0"/>
              <a:t>1</a:t>
            </a:r>
            <a:r>
              <a:rPr lang="zh-CN" altLang="en-US" dirty="0"/>
              <a:t>时（上），亮着的</a:t>
            </a:r>
            <a:r>
              <a:rPr lang="en-US" altLang="zh-CN" dirty="0"/>
              <a:t>LED</a:t>
            </a:r>
            <a:r>
              <a:rPr lang="zh-CN" altLang="en-US" dirty="0"/>
              <a:t>灯移动方向为向左。反之则方向为右。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zh-CN" dirty="0"/>
              <a:t>当按下</a:t>
            </a:r>
            <a:r>
              <a:rPr lang="zh-CN" altLang="en-US" dirty="0"/>
              <a:t>按键时，</a:t>
            </a:r>
            <a:r>
              <a:rPr lang="en-US" altLang="zh-CN" dirty="0"/>
              <a:t>LED</a:t>
            </a:r>
            <a:r>
              <a:rPr lang="zh-CN" altLang="en-US" dirty="0"/>
              <a:t>灯进行一次移动。</a:t>
            </a:r>
            <a:endParaRPr lang="zh-CN" altLang="zh-CN" dirty="0"/>
          </a:p>
          <a:p>
            <a:pPr lvl="1"/>
            <a:endParaRPr lang="en-US" altLang="zh-CN" dirty="0"/>
          </a:p>
        </p:txBody>
      </p:sp>
      <p:sp>
        <p:nvSpPr>
          <p:cNvPr id="16390" name="Rectangle 8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r" eaLnBrk="1" hangingPunct="1">
              <a:buNone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3"/>
          </p:nvPr>
        </p:nvSpPr>
        <p:spPr/>
        <p:txBody>
          <a:bodyPr/>
          <a:p>
            <a:pPr mar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A0DB2DC-4C9A-4742-B13C-FB6460FD3503}" type="slidenum">
              <a:rPr lang="ko-KR" altLang="en-US" sz="1400" dirty="0">
                <a:latin typeface="Verdana" panose="020B0604030504040204" pitchFamily="34" charset="0"/>
                <a:ea typeface="Gulim" pitchFamily="34" charset="-127"/>
              </a:rPr>
            </a:fld>
            <a:endParaRPr lang="ko-KR" altLang="en-US" sz="1400" dirty="0">
              <a:latin typeface="Verdana" panose="020B0604030504040204" pitchFamily="34" charset="0"/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综合实验一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：流水灯</a:t>
            </a:r>
            <a:r>
              <a:rPr lang="zh-CN" altLang="zh-CN" b="1" noProof="0" dirty="0">
                <a:ln>
                  <a:noFill/>
                </a:ln>
                <a:effectLst/>
                <a:uLnTx/>
                <a:uFillTx/>
                <a:sym typeface="+mn-ea"/>
              </a:rPr>
              <a:t>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>
          <a:xfrm>
            <a:off x="468313" y="1341438"/>
            <a:ext cx="8207375" cy="5111750"/>
          </a:xfrm>
        </p:spPr>
        <p:txBody>
          <a:bodyPr vert="horz" wrap="square" lIns="91440" tIns="45720" rIns="91440" bIns="45720" anchor="t" anchorCtr="0"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设计提示</a:t>
            </a:r>
            <a:r>
              <a:rPr lang="zh-CN" altLang="zh-CN" dirty="0">
                <a:solidFill>
                  <a:srgbClr val="FF0000"/>
                </a:solidFill>
              </a:rPr>
              <a:t>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zh-CN" dirty="0"/>
              <a:t>系统可设计成由顶层模块、</a:t>
            </a:r>
            <a:r>
              <a:rPr lang="zh-CN" altLang="en-US" dirty="0"/>
              <a:t>流水灯</a:t>
            </a:r>
            <a:r>
              <a:rPr lang="zh-CN" altLang="zh-CN" dirty="0"/>
              <a:t>控制模块</a:t>
            </a:r>
            <a:r>
              <a:rPr lang="en-US" altLang="zh-CN" dirty="0"/>
              <a:t>2</a:t>
            </a:r>
            <a:r>
              <a:rPr lang="zh-CN" altLang="zh-CN" dirty="0"/>
              <a:t>个模块组成。</a:t>
            </a:r>
            <a:endParaRPr lang="zh-CN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）亮着的</a:t>
            </a:r>
            <a:r>
              <a:rPr lang="en-US" altLang="zh-CN" dirty="0"/>
              <a:t>LED</a:t>
            </a:r>
            <a:r>
              <a:rPr lang="zh-CN" altLang="en-US" dirty="0"/>
              <a:t>灯的所在位可以用</a:t>
            </a:r>
            <a:r>
              <a:rPr lang="en-US" altLang="zh-CN" dirty="0"/>
              <a:t>[4:0]cnt</a:t>
            </a:r>
            <a:r>
              <a:rPr lang="zh-CN" altLang="en-US" dirty="0"/>
              <a:t>来表示，这样的好处是到边界会自动回到另一端。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）请注意阻塞赋值和非阻塞赋值问题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）为了方便操作，开关约束</a:t>
            </a:r>
            <a:r>
              <a:rPr lang="en-US" altLang="zh-CN" dirty="0"/>
              <a:t>T3</a:t>
            </a:r>
            <a:r>
              <a:rPr lang="zh-CN" altLang="en-US" dirty="0"/>
              <a:t>（标准模板上为</a:t>
            </a:r>
            <a:r>
              <a:rPr lang="en-US" altLang="zh-CN" dirty="0"/>
              <a:t>sw[31]</a:t>
            </a:r>
            <a:r>
              <a:rPr lang="zh-CN" altLang="en-US" dirty="0"/>
              <a:t>，最右边的开关），按键约束</a:t>
            </a:r>
            <a:r>
              <a:rPr lang="en-US" altLang="zh-CN" dirty="0"/>
              <a:t>R4</a:t>
            </a:r>
            <a:r>
              <a:rPr lang="zh-CN" altLang="en-US" dirty="0"/>
              <a:t>（按键中左上角的那个）</a:t>
            </a:r>
            <a:endParaRPr lang="zh-CN" altLang="zh-CN" dirty="0"/>
          </a:p>
        </p:txBody>
      </p:sp>
      <p:sp>
        <p:nvSpPr>
          <p:cNvPr id="17414" name="Rectangle 8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r" eaLnBrk="1" hangingPunct="1">
              <a:buNone/>
            </a:pP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008TGp_BizCom_light_4">
  <a:themeElements>
    <a:clrScheme name="">
      <a:dk1>
        <a:srgbClr val="1D528D"/>
      </a:dk1>
      <a:lt1>
        <a:srgbClr val="FFFFFF"/>
      </a:lt1>
      <a:dk2>
        <a:srgbClr val="000000"/>
      </a:dk2>
      <a:lt2>
        <a:srgbClr val="DDDDDD"/>
      </a:lt2>
      <a:accent1>
        <a:srgbClr val="2CA3C8"/>
      </a:accent1>
      <a:accent2>
        <a:srgbClr val="FF9900"/>
      </a:accent2>
      <a:accent3>
        <a:srgbClr val="FFFFFF"/>
      </a:accent3>
      <a:accent4>
        <a:srgbClr val="174578"/>
      </a:accent4>
      <a:accent5>
        <a:srgbClr val="ACCEE0"/>
      </a:accent5>
      <a:accent6>
        <a:srgbClr val="E78A00"/>
      </a:accent6>
      <a:hlink>
        <a:srgbClr val="0000FF"/>
      </a:hlink>
      <a:folHlink>
        <a:srgbClr val="00CC00"/>
      </a:folHlink>
    </a:clrScheme>
    <a:fontScheme name="008TGp_BizCom_light_4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008TGp_BizCom_light_4 1">
        <a:dk1>
          <a:srgbClr val="666699"/>
        </a:dk1>
        <a:lt1>
          <a:srgbClr val="FFFFFF"/>
        </a:lt1>
        <a:dk2>
          <a:srgbClr val="000000"/>
        </a:dk2>
        <a:lt2>
          <a:srgbClr val="F7F4D5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2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15978"/>
        </a:accent4>
        <a:accent5>
          <a:srgbClr val="B0C6C6"/>
        </a:accent5>
        <a:accent6>
          <a:srgbClr val="B9B900"/>
        </a:accent6>
        <a:hlink>
          <a:srgbClr val="33CC33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4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00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5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FF7C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6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336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7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6600"/>
        </a:hlink>
        <a:folHlink>
          <a:srgbClr val="66FF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8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0000"/>
        </a:hlink>
        <a:folHlink>
          <a:srgbClr val="66FF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9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FF33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0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CC33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1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00FF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2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66FF33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FF66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4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CC66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5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CCCC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6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CCFF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Designs\High Voltage.pot</Template>
  <TotalTime>0</TotalTime>
  <Words>438</Words>
  <Application>WPS 演示</Application>
  <PresentationFormat>全屏显示(4:3)</PresentationFormat>
  <Paragraphs>46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Verdana</vt:lpstr>
      <vt:lpstr>Gulim</vt:lpstr>
      <vt:lpstr>Malgun Gothic</vt:lpstr>
      <vt:lpstr>华文中宋</vt:lpstr>
      <vt:lpstr>Arial Unicode MS</vt:lpstr>
      <vt:lpstr>Times New Roman</vt:lpstr>
      <vt:lpstr>微软雅黑</vt:lpstr>
      <vt:lpstr>008TGp_BizCom_light_4</vt:lpstr>
      <vt:lpstr>综合实验一 ：流水灯设计</vt:lpstr>
      <vt:lpstr>综合实验一 ：流水灯设计</vt:lpstr>
      <vt:lpstr>综合实验一 ：流水灯设计</vt:lpstr>
      <vt:lpstr>综合实验一 ：流水灯设计</vt:lpstr>
    </vt:vector>
  </TitlesOfParts>
  <Company>杭州电子科大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《数字电路》实验指导</dc:title>
  <dc:creator>hzy</dc:creator>
  <dc:subject>第5章</dc:subject>
  <cp:lastModifiedBy>LJ</cp:lastModifiedBy>
  <cp:revision>444</cp:revision>
  <dcterms:created xsi:type="dcterms:W3CDTF">2001-12-07T16:07:00Z</dcterms:created>
  <dcterms:modified xsi:type="dcterms:W3CDTF">2025-10-17T01:44:58Z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FEAF02122FE9444D8CEBC2E776FA79D4_13</vt:lpwstr>
  </property>
</Properties>
</file>